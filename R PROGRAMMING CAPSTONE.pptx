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59" r:id="rId6"/>
    <p:sldId id="267" r:id="rId7"/>
    <p:sldId id="261" r:id="rId8"/>
    <p:sldId id="262" r:id="rId9"/>
    <p:sldId id="263"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91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76561533704391"/>
          <c:y val="0.0421115065243179"/>
          <c:w val="0.901483050847458"/>
          <c:h val="0.818713450292398"/>
        </c:manualLayout>
      </c:layout>
      <c:barChart>
        <c:barDir val="col"/>
        <c:grouping val="clustered"/>
        <c:varyColors val="0"/>
        <c:ser>
          <c:idx val="0"/>
          <c:order val="0"/>
          <c:tx>
            <c:strRef>
              <c:f>Sheet1!$B$1</c:f>
              <c:strCache>
                <c:ptCount val="1"/>
                <c:pt idx="0">
                  <c:v>Mean Value (Illustrative)</c:v>
                </c:pt>
              </c:strCache>
            </c:strRef>
          </c:tx>
          <c:spPr>
            <a:solidFill>
              <a:srgbClr val="1C7293"/>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B3D5C"/>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pH</c:v>
                </c:pt>
                <c:pt idx="1">
                  <c:v>Turbidity</c:v>
                </c:pt>
                <c:pt idx="2">
                  <c:v>Hardness</c:v>
                </c:pt>
                <c:pt idx="3">
                  <c:v>Nitrate</c:v>
                </c:pt>
              </c:strCache>
            </c:strRef>
          </c:cat>
          <c:val>
            <c:numRef>
              <c:f>Sheet1!$B$2:$B$5</c:f>
              <c:numCache>
                <c:formatCode>General</c:formatCode>
                <c:ptCount val="4"/>
                <c:pt idx="0">
                  <c:v>7.2</c:v>
                </c:pt>
                <c:pt idx="1">
                  <c:v>1.6</c:v>
                </c:pt>
                <c:pt idx="2">
                  <c:v>174</c:v>
                </c:pt>
                <c:pt idx="3">
                  <c:v>14</c:v>
                </c:pt>
              </c:numCache>
            </c:numRef>
          </c:val>
        </c:ser>
        <c:dLbls>
          <c:showLegendKey val="0"/>
          <c:showVal val="1"/>
          <c:showCatName val="0"/>
          <c:showSerName val="0"/>
          <c:showPercent val="0"/>
          <c:showBubbleSize val="0"/>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B7E86"/>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9525" cap="flat" cmpd="sng" algn="ctr">
              <a:solidFill>
                <a:srgbClr val="E5EE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6B7E86"/>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0ee7f0a1-b5d0-4d9b-8c15-d826019dd668}"/>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image" Target="../media/image2.jpe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70.xml"/><Relationship Id="rId11" Type="http://schemas.openxmlformats.org/officeDocument/2006/relationships/slideLayout" Target="../slideLayouts/slideLayout2.xml"/><Relationship Id="rId10" Type="http://schemas.openxmlformats.org/officeDocument/2006/relationships/tags" Target="../tags/tag71.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3.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2.jpe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80" y="2825750"/>
            <a:ext cx="9799320" cy="1045210"/>
          </a:xfrm>
        </p:spPr>
        <p:txBody>
          <a:bodyPr>
            <a:noAutofit/>
          </a:bodyPr>
          <a:p>
            <a:r>
              <a:rPr lang="en-US" sz="3500" b="1" dirty="0">
                <a:solidFill>
                  <a:srgbClr val="FF0000"/>
                </a:solidFill>
                <a:latin typeface="Cambria" panose="02040503050406030204" pitchFamily="34" charset="0"/>
                <a:ea typeface="Cambria" panose="02040503050406030204" pitchFamily="34" charset="-122"/>
                <a:cs typeface="Cambria" panose="02040503050406030204" pitchFamily="34" charset="-120"/>
                <a:sym typeface="+mn-ea"/>
              </a:rPr>
              <a:t>STATISTICAL ANALYSIS OF HOUSEHOLD</a:t>
            </a:r>
            <a:br>
              <a:rPr lang="en-US" sz="3500" dirty="0">
                <a:solidFill>
                  <a:srgbClr val="FF0000"/>
                </a:solidFill>
              </a:rPr>
            </a:br>
            <a:r>
              <a:rPr lang="en-US" sz="3500" b="1" dirty="0">
                <a:solidFill>
                  <a:srgbClr val="FF0000"/>
                </a:solidFill>
                <a:latin typeface="Cambria" panose="02040503050406030204" pitchFamily="34" charset="0"/>
                <a:ea typeface="Cambria" panose="02040503050406030204" pitchFamily="34" charset="-122"/>
                <a:cs typeface="Cambria" panose="02040503050406030204" pitchFamily="34" charset="-120"/>
                <a:sym typeface="+mn-ea"/>
              </a:rPr>
              <a:t>DRINKING WATER QUALITY USING R PROGRAMMING</a:t>
            </a:r>
            <a:endParaRPr lang="en-US" sz="3500" b="1" dirty="0">
              <a:solidFill>
                <a:srgbClr val="FF0000"/>
              </a:solidFill>
              <a:latin typeface="Cambria" panose="02040503050406030204" pitchFamily="34" charset="0"/>
              <a:ea typeface="Cambria" panose="02040503050406030204" pitchFamily="34" charset="-122"/>
              <a:cs typeface="Cambria" panose="02040503050406030204" pitchFamily="34" charset="-120"/>
              <a:sym typeface="+mn-ea"/>
            </a:endParaRPr>
          </a:p>
        </p:txBody>
      </p:sp>
      <p:sp>
        <p:nvSpPr>
          <p:cNvPr id="3" name="Subtitle 2"/>
          <p:cNvSpPr>
            <a:spLocks noGrp="1"/>
          </p:cNvSpPr>
          <p:nvPr>
            <p:ph type="subTitle" idx="1"/>
            <p:custDataLst>
              <p:tags r:id="rId2"/>
            </p:custDataLst>
          </p:nvPr>
        </p:nvSpPr>
        <p:spPr>
          <a:xfrm>
            <a:off x="1198880" y="3775075"/>
            <a:ext cx="9799320" cy="641985"/>
          </a:xfrm>
        </p:spPr>
        <p:txBody>
          <a:bodyPr/>
          <a:p>
            <a:r>
              <a:rPr lang="en-US" b="1" i="1" dirty="0">
                <a:solidFill>
                  <a:schemeClr val="accent4">
                    <a:lumMod val="75000"/>
                  </a:schemeClr>
                </a:solidFill>
                <a:latin typeface="Calibri" panose="020F0502020204030204" charset="0"/>
                <a:ea typeface="Calibri" panose="020F0502020204030204" pitchFamily="34" charset="-122"/>
                <a:cs typeface="Calibri" panose="020F0502020204030204" pitchFamily="34" charset="-120"/>
                <a:sym typeface="+mn-ea"/>
              </a:rPr>
              <a:t>ITA 0406-R Programming </a:t>
            </a:r>
            <a:endParaRPr lang="en-US" b="1" i="1" dirty="0">
              <a:solidFill>
                <a:schemeClr val="accent4">
                  <a:lumMod val="75000"/>
                </a:schemeClr>
              </a:solidFill>
              <a:latin typeface="Calibri" panose="020F0502020204030204" charset="0"/>
              <a:ea typeface="Calibri" panose="020F0502020204030204" pitchFamily="34" charset="-122"/>
              <a:cs typeface="Calibri" panose="020F0502020204030204" pitchFamily="34" charset="-120"/>
              <a:sym typeface="+mn-ea"/>
            </a:endParaRPr>
          </a:p>
        </p:txBody>
      </p:sp>
      <p:pic>
        <p:nvPicPr>
          <p:cNvPr id="4" name="Picture 3" descr="slide1_img0.png"/>
          <p:cNvPicPr>
            <a:picLocks noChangeAspect="1"/>
          </p:cNvPicPr>
          <p:nvPr/>
        </p:nvPicPr>
        <p:blipFill>
          <a:blip r:embed="rId3"/>
          <a:stretch>
            <a:fillRect/>
          </a:stretch>
        </p:blipFill>
        <p:spPr>
          <a:xfrm>
            <a:off x="1417320" y="265176"/>
            <a:ext cx="9354312" cy="1014984"/>
          </a:xfrm>
          <a:prstGeom prst="rect">
            <a:avLst/>
          </a:prstGeom>
        </p:spPr>
      </p:pic>
      <p:sp>
        <p:nvSpPr>
          <p:cNvPr id="5" name="Text Box 4"/>
          <p:cNvSpPr txBox="1"/>
          <p:nvPr/>
        </p:nvSpPr>
        <p:spPr>
          <a:xfrm>
            <a:off x="2978150" y="1823085"/>
            <a:ext cx="6096000" cy="460375"/>
          </a:xfrm>
          <a:prstGeom prst="rect">
            <a:avLst/>
          </a:prstGeom>
          <a:noFill/>
        </p:spPr>
        <p:txBody>
          <a:bodyPr wrap="square" rtlCol="0" anchor="t">
            <a:spAutoFit/>
          </a:bodyPr>
          <a:p>
            <a:pPr algn="ctr"/>
            <a:r>
              <a:rPr sz="2400" b="1">
                <a:solidFill>
                  <a:srgbClr val="1A3C6E"/>
                </a:solidFill>
                <a:latin typeface="Times New Roman" panose="02020603050405020304"/>
                <a:sym typeface="+mn-ea"/>
              </a:rPr>
              <a:t>CAPSTONE PROJECT</a:t>
            </a:r>
            <a:endParaRPr lang="en-US" sz="2400" b="1">
              <a:solidFill>
                <a:srgbClr val="1A3C6E"/>
              </a:solidFill>
              <a:latin typeface="Times New Roman" panose="02020603050405020304"/>
              <a:sym typeface="+mn-ea"/>
            </a:endParaRPr>
          </a:p>
        </p:txBody>
      </p:sp>
      <p:sp>
        <p:nvSpPr>
          <p:cNvPr id="6" name="Text Box 5"/>
          <p:cNvSpPr txBox="1"/>
          <p:nvPr/>
        </p:nvSpPr>
        <p:spPr>
          <a:xfrm>
            <a:off x="681990" y="4848225"/>
            <a:ext cx="6096000" cy="1753235"/>
          </a:xfrm>
          <a:prstGeom prst="rect">
            <a:avLst/>
          </a:prstGeom>
          <a:noFill/>
        </p:spPr>
        <p:txBody>
          <a:bodyPr wrap="square" rtlCol="0" anchor="t">
            <a:spAutoFit/>
          </a:bodyPr>
          <a:p>
            <a:pPr marL="0" indent="0">
              <a:buNone/>
            </a:pPr>
            <a:r>
              <a:rPr lang="en-US" sz="2000" b="1" dirty="0">
                <a:solidFill>
                  <a:schemeClr val="accent4">
                    <a:lumMod val="75000"/>
                  </a:schemeClr>
                </a:solidFill>
                <a:latin typeface="Times New Roman" panose="02020603050405020304" charset="0"/>
                <a:ea typeface="Calibri" panose="020F0502020204030204" pitchFamily="34" charset="-122"/>
                <a:cs typeface="Times New Roman" panose="02020603050405020304" charset="0"/>
                <a:sym typeface="+mn-ea"/>
              </a:rPr>
              <a:t>Presented by: </a:t>
            </a:r>
            <a:endParaRPr lang="en-US" sz="2000" b="1" dirty="0">
              <a:solidFill>
                <a:schemeClr val="accent4">
                  <a:lumMod val="75000"/>
                </a:schemeClr>
              </a:solidFill>
              <a:latin typeface="Times New Roman" panose="02020603050405020304" charset="0"/>
              <a:ea typeface="Calibri" panose="020F0502020204030204" pitchFamily="34" charset="-122"/>
              <a:cs typeface="Times New Roman" panose="02020603050405020304" charset="0"/>
              <a:sym typeface="+mn-ea"/>
            </a:endParaRPr>
          </a:p>
          <a:p>
            <a:pPr marL="457200" indent="-457200">
              <a:buAutoNum type="arabicPeriod"/>
            </a:pPr>
            <a:r>
              <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rPr>
              <a:t>A.SabiSanthoshni Mary(192320009)</a:t>
            </a:r>
            <a:endPar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endParaRPr>
          </a:p>
          <a:p>
            <a:pPr marL="457200" indent="-457200">
              <a:buAutoNum type="arabicPeriod"/>
            </a:pPr>
            <a:r>
              <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rPr>
              <a:t>Dasari Akshitha(192320046)</a:t>
            </a:r>
            <a:endPar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endParaRPr>
          </a:p>
          <a:p>
            <a:pPr marL="457200" indent="-457200">
              <a:buAutoNum type="arabicPeriod"/>
            </a:pPr>
            <a:r>
              <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rPr>
              <a:t>B.Reshni Priya(192320035)</a:t>
            </a:r>
            <a:endParaRPr lang="en-US" sz="1600" b="1" i="1" dirty="0">
              <a:solidFill>
                <a:schemeClr val="tx1"/>
              </a:solidFill>
              <a:latin typeface="Times New Roman" panose="02020603050405020304" charset="0"/>
              <a:ea typeface="Calibri" panose="020F0502020204030204" pitchFamily="34" charset="-122"/>
              <a:cs typeface="Times New Roman" panose="02020603050405020304" charset="0"/>
              <a:sym typeface="+mn-ea"/>
            </a:endParaRPr>
          </a:p>
          <a:p>
            <a:pPr marL="457200" indent="-457200">
              <a:buAutoNum type="arabicPeriod"/>
            </a:pPr>
            <a:endParaRPr lang="en-US" sz="2000" b="1" dirty="0">
              <a:solidFill>
                <a:schemeClr val="accent4">
                  <a:lumMod val="75000"/>
                </a:schemeClr>
              </a:solidFill>
              <a:latin typeface="Times New Roman" panose="02020603050405020304" charset="0"/>
              <a:ea typeface="Calibri" panose="020F0502020204030204" pitchFamily="34" charset="-122"/>
              <a:cs typeface="Times New Roman" panose="02020603050405020304" charset="0"/>
              <a:sym typeface="+mn-ea"/>
            </a:endParaRPr>
          </a:p>
          <a:p>
            <a:pPr marL="0" indent="0">
              <a:buNone/>
            </a:pPr>
            <a:endParaRPr lang="en-US" sz="2000" b="1" dirty="0">
              <a:solidFill>
                <a:schemeClr val="accent4">
                  <a:lumMod val="75000"/>
                </a:schemeClr>
              </a:solidFill>
              <a:latin typeface="Times New Roman" panose="02020603050405020304" charset="0"/>
              <a:ea typeface="Calibri" panose="020F0502020204030204" pitchFamily="34" charset="-122"/>
              <a:cs typeface="Times New Roman" panose="02020603050405020304" charset="0"/>
              <a:sym typeface="+mn-ea"/>
            </a:endParaRPr>
          </a:p>
        </p:txBody>
      </p:sp>
      <p:sp>
        <p:nvSpPr>
          <p:cNvPr id="7" name="Text Box 6"/>
          <p:cNvSpPr txBox="1"/>
          <p:nvPr/>
        </p:nvSpPr>
        <p:spPr>
          <a:xfrm>
            <a:off x="6901815" y="4906010"/>
            <a:ext cx="6096000" cy="306705"/>
          </a:xfrm>
          <a:prstGeom prst="rect">
            <a:avLst/>
          </a:prstGeom>
          <a:noFill/>
        </p:spPr>
        <p:txBody>
          <a:bodyPr wrap="square" rtlCol="0" anchor="t">
            <a:spAutoFit/>
          </a:bodyPr>
          <a:p>
            <a:r>
              <a:rPr sz="1400" b="1">
                <a:solidFill>
                  <a:schemeClr val="accent4"/>
                </a:solidFill>
                <a:latin typeface="Times New Roman" panose="02020603050405020304"/>
                <a:sym typeface="+mn-ea"/>
              </a:rPr>
              <a:t>UNDER THE SUPERVISION OF:</a:t>
            </a:r>
            <a:r>
              <a:rPr lang="en-US" sz="1400" b="1">
                <a:solidFill>
                  <a:schemeClr val="accent4"/>
                </a:solidFill>
                <a:latin typeface="Times New Roman" panose="02020603050405020304"/>
                <a:sym typeface="+mn-ea"/>
              </a:rPr>
              <a:t> </a:t>
            </a:r>
            <a:r>
              <a:rPr sz="1400" b="1">
                <a:solidFill>
                  <a:srgbClr val="2B2B2B"/>
                </a:solidFill>
                <a:latin typeface="Times New Roman" panose="02020603050405020304"/>
                <a:sym typeface="+mn-ea"/>
              </a:rPr>
              <a:t>DR.</a:t>
            </a:r>
            <a:r>
              <a:rPr lang="en-US" sz="1400" b="1">
                <a:solidFill>
                  <a:srgbClr val="2B2B2B"/>
                </a:solidFill>
                <a:latin typeface="Times New Roman" panose="02020603050405020304"/>
                <a:sym typeface="+mn-ea"/>
              </a:rPr>
              <a:t>M.AMANULLAH</a:t>
            </a:r>
            <a:endParaRPr lang="en-US" sz="1400" b="1">
              <a:solidFill>
                <a:srgbClr val="2B2B2B"/>
              </a:solidFill>
              <a:latin typeface="Times New Roman" panose="02020603050405020304"/>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1"/>
          <p:cNvSpPr/>
          <p:nvPr/>
        </p:nvSpPr>
        <p:spPr>
          <a:xfrm>
            <a:off x="4813935" y="292735"/>
            <a:ext cx="2307590" cy="685800"/>
          </a:xfrm>
          <a:prstGeom prst="rect">
            <a:avLst/>
          </a:prstGeom>
          <a:noFill/>
        </p:spPr>
        <p:txBody>
          <a:bodyPr wrap="square" rtlCol="0" anchor="ctr"/>
          <a:lstStyle/>
          <a:p>
            <a:pPr marL="0" indent="0" algn="l">
              <a:buNone/>
            </a:pPr>
            <a:r>
              <a:rPr lang="en-US" sz="2800" b="1" u="sng" dirty="0">
                <a:solidFill>
                  <a:srgbClr val="0B3D5C"/>
                </a:solidFill>
                <a:latin typeface="Cambria" panose="02040503050406030204" pitchFamily="34" charset="0"/>
                <a:ea typeface="Cambria" panose="02040503050406030204" pitchFamily="34" charset="-122"/>
                <a:cs typeface="Cambria" panose="02040503050406030204" pitchFamily="34" charset="-120"/>
              </a:rPr>
              <a:t>Introduction</a:t>
            </a:r>
            <a:endParaRPr lang="en-US" sz="2800" u="sng" dirty="0"/>
          </a:p>
        </p:txBody>
      </p:sp>
      <p:sp>
        <p:nvSpPr>
          <p:cNvPr id="5" name="Text 2"/>
          <p:cNvSpPr/>
          <p:nvPr/>
        </p:nvSpPr>
        <p:spPr>
          <a:xfrm>
            <a:off x="95250" y="1481455"/>
            <a:ext cx="6678295" cy="4023360"/>
          </a:xfrm>
          <a:prstGeom prst="rect">
            <a:avLst/>
          </a:prstGeom>
          <a:noFill/>
        </p:spPr>
        <p:txBody>
          <a:bodyPr wrap="square" rtlCol="0" anchor="t"/>
          <a:lstStyle/>
          <a:p>
            <a:pPr marL="342900" indent="-342900" algn="l">
              <a:lnSpc>
                <a:spcPct val="150000"/>
              </a:lnSpc>
              <a:spcAft>
                <a:spcPts val="13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Drinking water quality is a critical determinant of public health and community well-being.</a:t>
            </a:r>
            <a:endParaRPr lang="en-US" dirty="0">
              <a:latin typeface="Times New Roman" panose="02020603050405020304" charset="0"/>
              <a:cs typeface="Times New Roman" panose="02020603050405020304" charset="0"/>
            </a:endParaRPr>
          </a:p>
          <a:p>
            <a:pPr marL="342900" indent="-342900" algn="l">
              <a:lnSpc>
                <a:spcPct val="150000"/>
              </a:lnSpc>
              <a:spcAft>
                <a:spcPts val="13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Water quality can vary depending on source, location, storage practices, treatment methods, and local environmental conditions.</a:t>
            </a:r>
            <a:endParaRPr lang="en-US" dirty="0">
              <a:latin typeface="Times New Roman" panose="02020603050405020304" charset="0"/>
              <a:cs typeface="Times New Roman" panose="02020603050405020304" charset="0"/>
            </a:endParaRPr>
          </a:p>
          <a:p>
            <a:pPr marL="342900" indent="-342900" algn="l">
              <a:lnSpc>
                <a:spcPct val="150000"/>
              </a:lnSpc>
              <a:spcAft>
                <a:spcPts val="13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Physical, chemical, and microbiological parameters can be measured to evaluate the quality of drinking water.</a:t>
            </a:r>
            <a:endParaRPr lang="en-US" dirty="0">
              <a:latin typeface="Times New Roman" panose="02020603050405020304" charset="0"/>
              <a:cs typeface="Times New Roman" panose="02020603050405020304" charset="0"/>
            </a:endParaRPr>
          </a:p>
          <a:p>
            <a:pPr marL="342900" indent="-342900" algn="l">
              <a:lnSpc>
                <a:spcPct val="150000"/>
              </a:lnSpc>
              <a:spcAft>
                <a:spcPts val="13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Statistical analysis helps identify variation, unusual observations, and relationships between parameters.</a:t>
            </a:r>
            <a:endParaRPr lang="en-US" dirty="0">
              <a:latin typeface="Times New Roman" panose="02020603050405020304" charset="0"/>
              <a:cs typeface="Times New Roman" panose="02020603050405020304" charset="0"/>
            </a:endParaRPr>
          </a:p>
          <a:p>
            <a:pPr marL="342900" indent="-342900" algn="l">
              <a:lnSpc>
                <a:spcPct val="150000"/>
              </a:lnSpc>
              <a:spcAft>
                <a:spcPts val="13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R programming provides a robust toolkit for data cleaning, statistical analysis, visualization, and reporting.</a:t>
            </a:r>
            <a:endParaRPr lang="en-US" dirty="0">
              <a:latin typeface="Times New Roman" panose="02020603050405020304" charset="0"/>
              <a:cs typeface="Times New Roman" panose="02020603050405020304" charset="0"/>
            </a:endParaRPr>
          </a:p>
        </p:txBody>
      </p:sp>
      <p:sp>
        <p:nvSpPr>
          <p:cNvPr id="6" name="Shape 3"/>
          <p:cNvSpPr/>
          <p:nvPr/>
        </p:nvSpPr>
        <p:spPr>
          <a:xfrm>
            <a:off x="7059295" y="1481455"/>
            <a:ext cx="4370832" cy="4709160"/>
          </a:xfrm>
          <a:prstGeom prst="roundRect">
            <a:avLst>
              <a:gd name="adj" fmla="val 2092"/>
            </a:avLst>
          </a:prstGeom>
          <a:solidFill>
            <a:srgbClr val="EAF5F8"/>
          </a:solidFill>
        </p:spPr>
      </p:sp>
      <p:sp>
        <p:nvSpPr>
          <p:cNvPr id="7" name="Text 4"/>
          <p:cNvSpPr/>
          <p:nvPr/>
        </p:nvSpPr>
        <p:spPr>
          <a:xfrm>
            <a:off x="7498080" y="1481328"/>
            <a:ext cx="3931920" cy="457200"/>
          </a:xfrm>
          <a:prstGeom prst="rect">
            <a:avLst/>
          </a:prstGeom>
          <a:noFill/>
        </p:spPr>
        <p:txBody>
          <a:bodyPr wrap="square" rtlCol="0" anchor="ctr"/>
          <a:lstStyle/>
          <a:p>
            <a:pPr marL="0" indent="0">
              <a:buNone/>
            </a:pPr>
            <a:r>
              <a:rPr lang="en-US" sz="1450" b="1" dirty="0">
                <a:solidFill>
                  <a:srgbClr val="0B3D5C"/>
                </a:solidFill>
                <a:latin typeface="Cambria" panose="02040503050406030204" pitchFamily="34" charset="0"/>
                <a:ea typeface="Cambria" panose="02040503050406030204" pitchFamily="34" charset="-122"/>
                <a:cs typeface="Cambria" panose="02040503050406030204" pitchFamily="34" charset="-120"/>
              </a:rPr>
              <a:t>Possible Water-Quality Parameters</a:t>
            </a:r>
            <a:endParaRPr lang="en-US" sz="1450" dirty="0"/>
          </a:p>
        </p:txBody>
      </p:sp>
      <p:sp>
        <p:nvSpPr>
          <p:cNvPr id="8" name="Shape 5"/>
          <p:cNvSpPr/>
          <p:nvPr/>
        </p:nvSpPr>
        <p:spPr>
          <a:xfrm>
            <a:off x="7543800" y="2048256"/>
            <a:ext cx="91440" cy="91440"/>
          </a:xfrm>
          <a:prstGeom prst="ellipse">
            <a:avLst/>
          </a:prstGeom>
          <a:solidFill>
            <a:srgbClr val="1C7293"/>
          </a:solidFill>
        </p:spPr>
      </p:sp>
      <p:sp>
        <p:nvSpPr>
          <p:cNvPr id="9" name="Text 6"/>
          <p:cNvSpPr/>
          <p:nvPr/>
        </p:nvSpPr>
        <p:spPr>
          <a:xfrm>
            <a:off x="7754112" y="1938528"/>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pH</a:t>
            </a:r>
            <a:endParaRPr lang="en-US" sz="1200" dirty="0"/>
          </a:p>
        </p:txBody>
      </p:sp>
      <p:sp>
        <p:nvSpPr>
          <p:cNvPr id="10" name="Shape 7"/>
          <p:cNvSpPr/>
          <p:nvPr/>
        </p:nvSpPr>
        <p:spPr>
          <a:xfrm>
            <a:off x="7543800" y="2450592"/>
            <a:ext cx="91440" cy="91440"/>
          </a:xfrm>
          <a:prstGeom prst="ellipse">
            <a:avLst/>
          </a:prstGeom>
          <a:solidFill>
            <a:srgbClr val="1C7293"/>
          </a:solidFill>
        </p:spPr>
      </p:sp>
      <p:sp>
        <p:nvSpPr>
          <p:cNvPr id="11" name="Text 8"/>
          <p:cNvSpPr/>
          <p:nvPr/>
        </p:nvSpPr>
        <p:spPr>
          <a:xfrm>
            <a:off x="7754112" y="2340864"/>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Turbidity</a:t>
            </a:r>
            <a:endParaRPr lang="en-US" sz="1200" dirty="0"/>
          </a:p>
        </p:txBody>
      </p:sp>
      <p:sp>
        <p:nvSpPr>
          <p:cNvPr id="12" name="Shape 9"/>
          <p:cNvSpPr/>
          <p:nvPr/>
        </p:nvSpPr>
        <p:spPr>
          <a:xfrm>
            <a:off x="7543800" y="2852928"/>
            <a:ext cx="91440" cy="91440"/>
          </a:xfrm>
          <a:prstGeom prst="ellipse">
            <a:avLst/>
          </a:prstGeom>
          <a:solidFill>
            <a:srgbClr val="1C7293"/>
          </a:solidFill>
        </p:spPr>
      </p:sp>
      <p:sp>
        <p:nvSpPr>
          <p:cNvPr id="13" name="Text 10"/>
          <p:cNvSpPr/>
          <p:nvPr/>
        </p:nvSpPr>
        <p:spPr>
          <a:xfrm>
            <a:off x="7754112" y="2743200"/>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Total Dissolved Solids (TDS)</a:t>
            </a:r>
            <a:endParaRPr lang="en-US" sz="1200" dirty="0"/>
          </a:p>
        </p:txBody>
      </p:sp>
      <p:sp>
        <p:nvSpPr>
          <p:cNvPr id="14" name="Shape 11"/>
          <p:cNvSpPr/>
          <p:nvPr/>
        </p:nvSpPr>
        <p:spPr>
          <a:xfrm>
            <a:off x="7543800" y="3255264"/>
            <a:ext cx="91440" cy="91440"/>
          </a:xfrm>
          <a:prstGeom prst="ellipse">
            <a:avLst/>
          </a:prstGeom>
          <a:solidFill>
            <a:srgbClr val="1C7293"/>
          </a:solidFill>
        </p:spPr>
      </p:sp>
      <p:sp>
        <p:nvSpPr>
          <p:cNvPr id="15" name="Text 12"/>
          <p:cNvSpPr/>
          <p:nvPr/>
        </p:nvSpPr>
        <p:spPr>
          <a:xfrm>
            <a:off x="7754112" y="3145536"/>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Electrical Conductivity</a:t>
            </a:r>
            <a:endParaRPr lang="en-US" sz="1200" dirty="0"/>
          </a:p>
        </p:txBody>
      </p:sp>
      <p:sp>
        <p:nvSpPr>
          <p:cNvPr id="16" name="Shape 13"/>
          <p:cNvSpPr/>
          <p:nvPr/>
        </p:nvSpPr>
        <p:spPr>
          <a:xfrm>
            <a:off x="7543800" y="3657600"/>
            <a:ext cx="91440" cy="91440"/>
          </a:xfrm>
          <a:prstGeom prst="ellipse">
            <a:avLst/>
          </a:prstGeom>
          <a:solidFill>
            <a:srgbClr val="1C7293"/>
          </a:solidFill>
        </p:spPr>
      </p:sp>
      <p:sp>
        <p:nvSpPr>
          <p:cNvPr id="17" name="Text 14"/>
          <p:cNvSpPr/>
          <p:nvPr/>
        </p:nvSpPr>
        <p:spPr>
          <a:xfrm>
            <a:off x="7754112" y="3547872"/>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Total Hardness</a:t>
            </a:r>
            <a:endParaRPr lang="en-US" sz="1200" dirty="0"/>
          </a:p>
        </p:txBody>
      </p:sp>
      <p:sp>
        <p:nvSpPr>
          <p:cNvPr id="18" name="Shape 15"/>
          <p:cNvSpPr/>
          <p:nvPr/>
        </p:nvSpPr>
        <p:spPr>
          <a:xfrm>
            <a:off x="7543800" y="4059936"/>
            <a:ext cx="91440" cy="91440"/>
          </a:xfrm>
          <a:prstGeom prst="ellipse">
            <a:avLst/>
          </a:prstGeom>
          <a:solidFill>
            <a:srgbClr val="1C7293"/>
          </a:solidFill>
        </p:spPr>
      </p:sp>
      <p:sp>
        <p:nvSpPr>
          <p:cNvPr id="19" name="Text 16"/>
          <p:cNvSpPr/>
          <p:nvPr/>
        </p:nvSpPr>
        <p:spPr>
          <a:xfrm>
            <a:off x="7754112" y="3950208"/>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Chloride</a:t>
            </a:r>
            <a:endParaRPr lang="en-US" sz="1200" dirty="0"/>
          </a:p>
        </p:txBody>
      </p:sp>
      <p:sp>
        <p:nvSpPr>
          <p:cNvPr id="20" name="Shape 17"/>
          <p:cNvSpPr/>
          <p:nvPr/>
        </p:nvSpPr>
        <p:spPr>
          <a:xfrm>
            <a:off x="7543800" y="4462272"/>
            <a:ext cx="91440" cy="91440"/>
          </a:xfrm>
          <a:prstGeom prst="ellipse">
            <a:avLst/>
          </a:prstGeom>
          <a:solidFill>
            <a:srgbClr val="1C7293"/>
          </a:solidFill>
        </p:spPr>
      </p:sp>
      <p:sp>
        <p:nvSpPr>
          <p:cNvPr id="21" name="Text 18"/>
          <p:cNvSpPr/>
          <p:nvPr/>
        </p:nvSpPr>
        <p:spPr>
          <a:xfrm>
            <a:off x="7754112" y="4352544"/>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Fluoride</a:t>
            </a:r>
            <a:endParaRPr lang="en-US" sz="1200" dirty="0"/>
          </a:p>
        </p:txBody>
      </p:sp>
      <p:sp>
        <p:nvSpPr>
          <p:cNvPr id="22" name="Shape 19"/>
          <p:cNvSpPr/>
          <p:nvPr/>
        </p:nvSpPr>
        <p:spPr>
          <a:xfrm>
            <a:off x="7543800" y="4864608"/>
            <a:ext cx="91440" cy="91440"/>
          </a:xfrm>
          <a:prstGeom prst="ellipse">
            <a:avLst/>
          </a:prstGeom>
          <a:solidFill>
            <a:srgbClr val="1C7293"/>
          </a:solidFill>
        </p:spPr>
      </p:sp>
      <p:sp>
        <p:nvSpPr>
          <p:cNvPr id="23" name="Text 20"/>
          <p:cNvSpPr/>
          <p:nvPr/>
        </p:nvSpPr>
        <p:spPr>
          <a:xfrm>
            <a:off x="7754112" y="4754880"/>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Nitrate</a:t>
            </a:r>
            <a:endParaRPr lang="en-US" sz="1200" dirty="0"/>
          </a:p>
        </p:txBody>
      </p:sp>
      <p:sp>
        <p:nvSpPr>
          <p:cNvPr id="24" name="Shape 21"/>
          <p:cNvSpPr/>
          <p:nvPr/>
        </p:nvSpPr>
        <p:spPr>
          <a:xfrm>
            <a:off x="7543800" y="5266944"/>
            <a:ext cx="91440" cy="91440"/>
          </a:xfrm>
          <a:prstGeom prst="ellipse">
            <a:avLst/>
          </a:prstGeom>
          <a:solidFill>
            <a:srgbClr val="1C7293"/>
          </a:solidFill>
        </p:spPr>
      </p:sp>
      <p:sp>
        <p:nvSpPr>
          <p:cNvPr id="25" name="Text 22"/>
          <p:cNvSpPr/>
          <p:nvPr/>
        </p:nvSpPr>
        <p:spPr>
          <a:xfrm>
            <a:off x="7754112" y="5157216"/>
            <a:ext cx="3749040" cy="292608"/>
          </a:xfrm>
          <a:prstGeom prst="rect">
            <a:avLst/>
          </a:prstGeom>
          <a:noFill/>
        </p:spPr>
        <p:txBody>
          <a:bodyPr wrap="square" rtlCol="0" anchor="ctr"/>
          <a:lstStyle/>
          <a:p>
            <a:pPr marL="0" indent="0">
              <a:buNone/>
            </a:pPr>
            <a:r>
              <a:rPr lang="en-US" sz="1200" dirty="0">
                <a:solidFill>
                  <a:srgbClr val="2B3A42"/>
                </a:solidFill>
                <a:latin typeface="Calibri" panose="020F0502020204030204" charset="0"/>
                <a:ea typeface="Calibri" panose="020F0502020204030204" pitchFamily="34" charset="-122"/>
                <a:cs typeface="Calibri" panose="020F0502020204030204" pitchFamily="34" charset="-120"/>
              </a:rPr>
              <a:t>Total Coliform</a:t>
            </a:r>
            <a:endParaRPr lang="en-US" sz="1200" dirty="0"/>
          </a:p>
        </p:txBody>
      </p:sp>
      <p:sp>
        <p:nvSpPr>
          <p:cNvPr id="28" name="Text 25"/>
          <p:cNvSpPr/>
          <p:nvPr/>
        </p:nvSpPr>
        <p:spPr>
          <a:xfrm>
            <a:off x="11274552" y="6510528"/>
            <a:ext cx="457200" cy="274320"/>
          </a:xfrm>
          <a:prstGeom prst="rect">
            <a:avLst/>
          </a:prstGeom>
          <a:noFill/>
        </p:spPr>
        <p:txBody>
          <a:bodyPr wrap="square" rtlCol="0" anchor="ctr"/>
          <a:lstStyle/>
          <a:p>
            <a:pPr marL="0" indent="0" algn="r">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2</a:t>
            </a:r>
            <a:endParaRPr lang="en-US" sz="900" dirty="0"/>
          </a:p>
        </p:txBody>
      </p:sp>
      <p:pic>
        <p:nvPicPr>
          <p:cNvPr id="61" name="Picture 60"/>
          <p:cNvPicPr/>
          <p:nvPr/>
        </p:nvPicPr>
        <p:blipFill>
          <a:blip r:embed="rId1"/>
          <a:stretch>
            <a:fillRect/>
          </a:stretch>
        </p:blipFill>
        <p:spPr>
          <a:xfrm>
            <a:off x="158750" y="174625"/>
            <a:ext cx="1649095" cy="1151255"/>
          </a:xfrm>
          <a:prstGeom prst="rect">
            <a:avLst/>
          </a:prstGeom>
        </p:spPr>
      </p:pic>
      <p:pic>
        <p:nvPicPr>
          <p:cNvPr id="62" name="Picture 61"/>
          <p:cNvPicPr/>
          <p:nvPr/>
        </p:nvPicPr>
        <p:blipFill>
          <a:blip r:embed="rId2"/>
          <a:stretch>
            <a:fillRect/>
          </a:stretch>
        </p:blipFill>
        <p:spPr>
          <a:xfrm>
            <a:off x="10632440" y="247015"/>
            <a:ext cx="1262380" cy="1124585"/>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1"/>
          <p:cNvSpPr/>
          <p:nvPr/>
        </p:nvSpPr>
        <p:spPr>
          <a:xfrm>
            <a:off x="3698875" y="328930"/>
            <a:ext cx="3657600" cy="685800"/>
          </a:xfrm>
          <a:prstGeom prst="rect">
            <a:avLst/>
          </a:prstGeom>
          <a:noFill/>
        </p:spPr>
        <p:txBody>
          <a:bodyPr wrap="square" rtlCol="0" anchor="ctr"/>
          <a:lstStyle/>
          <a:p>
            <a:pPr marL="0" indent="0" algn="l">
              <a:buNone/>
            </a:pPr>
            <a:r>
              <a:rPr lang="en-US" sz="2800" b="1" dirty="0">
                <a:solidFill>
                  <a:srgbClr val="0B3D5C"/>
                </a:solidFill>
                <a:latin typeface="Cambria" panose="02040503050406030204" pitchFamily="34" charset="0"/>
                <a:ea typeface="Cambria" panose="02040503050406030204" pitchFamily="34" charset="-122"/>
                <a:cs typeface="Cambria" panose="02040503050406030204" pitchFamily="34" charset="-120"/>
              </a:rPr>
              <a:t>Aim and Objectives</a:t>
            </a:r>
            <a:endParaRPr lang="en-US" sz="2800" dirty="0"/>
          </a:p>
        </p:txBody>
      </p:sp>
      <p:sp>
        <p:nvSpPr>
          <p:cNvPr id="5" name="Shape 2"/>
          <p:cNvSpPr/>
          <p:nvPr/>
        </p:nvSpPr>
        <p:spPr>
          <a:xfrm>
            <a:off x="548640" y="1325880"/>
            <a:ext cx="11091672" cy="1051560"/>
          </a:xfrm>
          <a:prstGeom prst="roundRect">
            <a:avLst>
              <a:gd name="adj" fmla="val 8696"/>
            </a:avLst>
          </a:prstGeom>
          <a:solidFill>
            <a:srgbClr val="EAF5F8"/>
          </a:solidFill>
          <a:ln w="9525">
            <a:solidFill>
              <a:srgbClr val="1C7293"/>
            </a:solidFill>
            <a:prstDash val="solid"/>
          </a:ln>
        </p:spPr>
      </p:sp>
      <p:sp>
        <p:nvSpPr>
          <p:cNvPr id="6" name="Text 3"/>
          <p:cNvSpPr/>
          <p:nvPr/>
        </p:nvSpPr>
        <p:spPr>
          <a:xfrm>
            <a:off x="777240" y="1417320"/>
            <a:ext cx="1463040" cy="274320"/>
          </a:xfrm>
          <a:prstGeom prst="rect">
            <a:avLst/>
          </a:prstGeom>
          <a:noFill/>
        </p:spPr>
        <p:txBody>
          <a:bodyPr wrap="square" rtlCol="0" anchor="ctr"/>
          <a:lstStyle/>
          <a:p>
            <a:pPr marL="0" indent="0">
              <a:buNone/>
            </a:pPr>
            <a:r>
              <a:rPr lang="en-US" sz="1200" b="1" dirty="0">
                <a:solidFill>
                  <a:srgbClr val="1C7293"/>
                </a:solidFill>
                <a:latin typeface="Calibri" panose="020F0502020204030204" charset="0"/>
                <a:ea typeface="Calibri" panose="020F0502020204030204" pitchFamily="34" charset="-122"/>
                <a:cs typeface="Calibri" panose="020F0502020204030204" pitchFamily="34" charset="-120"/>
              </a:rPr>
              <a:t>AIM</a:t>
            </a:r>
            <a:endParaRPr lang="en-US" sz="1200" dirty="0"/>
          </a:p>
        </p:txBody>
      </p:sp>
      <p:sp>
        <p:nvSpPr>
          <p:cNvPr id="7" name="Text 4"/>
          <p:cNvSpPr/>
          <p:nvPr/>
        </p:nvSpPr>
        <p:spPr>
          <a:xfrm>
            <a:off x="777240" y="1673352"/>
            <a:ext cx="10607040" cy="640080"/>
          </a:xfrm>
          <a:prstGeom prst="rect">
            <a:avLst/>
          </a:prstGeom>
          <a:noFill/>
        </p:spPr>
        <p:txBody>
          <a:bodyPr wrap="square" rtlCol="0" anchor="t"/>
          <a:lstStyle/>
          <a:p>
            <a:pPr marL="0" indent="0">
              <a:lnSpc>
                <a:spcPct val="110000"/>
              </a:lnSpc>
              <a:buNone/>
            </a:pPr>
            <a:r>
              <a:rPr lang="en-US" i="1" dirty="0">
                <a:solidFill>
                  <a:srgbClr val="0B3D5C"/>
                </a:solidFill>
                <a:latin typeface="Times New Roman" panose="02020603050405020304" charset="0"/>
                <a:ea typeface="Calibri" panose="020F0502020204030204" pitchFamily="34" charset="-122"/>
                <a:cs typeface="Times New Roman" panose="02020603050405020304" charset="0"/>
              </a:rPr>
              <a:t>To statistically analyze household drinking water quality using R programming and assess variations in selected water-quality parameters through statistical methods and data visualization.</a:t>
            </a:r>
            <a:endParaRPr lang="en-US" dirty="0">
              <a:latin typeface="Times New Roman" panose="02020603050405020304" charset="0"/>
              <a:cs typeface="Times New Roman" panose="02020603050405020304" charset="0"/>
            </a:endParaRPr>
          </a:p>
        </p:txBody>
      </p:sp>
      <p:sp>
        <p:nvSpPr>
          <p:cNvPr id="8" name="Text 5"/>
          <p:cNvSpPr/>
          <p:nvPr/>
        </p:nvSpPr>
        <p:spPr>
          <a:xfrm>
            <a:off x="548640" y="2542032"/>
            <a:ext cx="3657600" cy="320040"/>
          </a:xfrm>
          <a:prstGeom prst="rect">
            <a:avLst/>
          </a:prstGeom>
          <a:noFill/>
        </p:spPr>
        <p:txBody>
          <a:bodyPr wrap="square" rtlCol="0" anchor="ctr"/>
          <a:lstStyle/>
          <a:p>
            <a:pPr marL="0" indent="0">
              <a:buNone/>
            </a:pPr>
            <a:r>
              <a:rPr lang="en-US" sz="2000" b="1" dirty="0">
                <a:solidFill>
                  <a:srgbClr val="0B3D5C"/>
                </a:solidFill>
                <a:latin typeface="Cambria" panose="02040503050406030204" pitchFamily="34" charset="0"/>
                <a:ea typeface="Cambria" panose="02040503050406030204" pitchFamily="34" charset="-122"/>
                <a:cs typeface="Cambria" panose="02040503050406030204" pitchFamily="34" charset="-120"/>
              </a:rPr>
              <a:t>Objectives</a:t>
            </a:r>
            <a:endParaRPr lang="en-US" sz="2000" dirty="0"/>
          </a:p>
        </p:txBody>
      </p:sp>
      <p:sp>
        <p:nvSpPr>
          <p:cNvPr id="9" name="Shape 6"/>
          <p:cNvSpPr/>
          <p:nvPr/>
        </p:nvSpPr>
        <p:spPr>
          <a:xfrm>
            <a:off x="548640" y="2990088"/>
            <a:ext cx="384048" cy="384048"/>
          </a:xfrm>
          <a:prstGeom prst="ellipse">
            <a:avLst/>
          </a:prstGeom>
          <a:solidFill>
            <a:srgbClr val="0B3D5C"/>
          </a:solidFill>
        </p:spPr>
      </p:sp>
      <p:sp>
        <p:nvSpPr>
          <p:cNvPr id="10" name="Text 7"/>
          <p:cNvSpPr/>
          <p:nvPr/>
        </p:nvSpPr>
        <p:spPr>
          <a:xfrm>
            <a:off x="548640" y="2990088"/>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1</a:t>
            </a:r>
            <a:endParaRPr lang="en-US" sz="1300" dirty="0"/>
          </a:p>
        </p:txBody>
      </p:sp>
      <p:sp>
        <p:nvSpPr>
          <p:cNvPr id="11" name="Text 8"/>
          <p:cNvSpPr/>
          <p:nvPr/>
        </p:nvSpPr>
        <p:spPr>
          <a:xfrm>
            <a:off x="1051560" y="2971800"/>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Collect and organize household drinking-water quality data.</a:t>
            </a:r>
            <a:endParaRPr lang="en-US" b="1" dirty="0"/>
          </a:p>
        </p:txBody>
      </p:sp>
      <p:sp>
        <p:nvSpPr>
          <p:cNvPr id="12" name="Shape 9"/>
          <p:cNvSpPr/>
          <p:nvPr/>
        </p:nvSpPr>
        <p:spPr>
          <a:xfrm>
            <a:off x="6199632" y="2990088"/>
            <a:ext cx="384048" cy="384048"/>
          </a:xfrm>
          <a:prstGeom prst="ellipse">
            <a:avLst/>
          </a:prstGeom>
          <a:solidFill>
            <a:srgbClr val="0B3D5C"/>
          </a:solidFill>
        </p:spPr>
      </p:sp>
      <p:sp>
        <p:nvSpPr>
          <p:cNvPr id="13" name="Text 10"/>
          <p:cNvSpPr/>
          <p:nvPr/>
        </p:nvSpPr>
        <p:spPr>
          <a:xfrm>
            <a:off x="6199632" y="2990088"/>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2</a:t>
            </a:r>
            <a:endParaRPr lang="en-US" sz="1300" dirty="0"/>
          </a:p>
        </p:txBody>
      </p:sp>
      <p:sp>
        <p:nvSpPr>
          <p:cNvPr id="14" name="Text 11"/>
          <p:cNvSpPr/>
          <p:nvPr/>
        </p:nvSpPr>
        <p:spPr>
          <a:xfrm>
            <a:off x="6702552" y="2971800"/>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Clean and preprocess the dataset using R.</a:t>
            </a:r>
            <a:endParaRPr lang="en-US" b="1" dirty="0"/>
          </a:p>
        </p:txBody>
      </p:sp>
      <p:sp>
        <p:nvSpPr>
          <p:cNvPr id="15" name="Shape 12"/>
          <p:cNvSpPr/>
          <p:nvPr/>
        </p:nvSpPr>
        <p:spPr>
          <a:xfrm>
            <a:off x="548640" y="3648456"/>
            <a:ext cx="384048" cy="384048"/>
          </a:xfrm>
          <a:prstGeom prst="ellipse">
            <a:avLst/>
          </a:prstGeom>
          <a:solidFill>
            <a:srgbClr val="0B3D5C"/>
          </a:solidFill>
        </p:spPr>
      </p:sp>
      <p:sp>
        <p:nvSpPr>
          <p:cNvPr id="16" name="Text 13"/>
          <p:cNvSpPr/>
          <p:nvPr/>
        </p:nvSpPr>
        <p:spPr>
          <a:xfrm>
            <a:off x="548640" y="3648456"/>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3</a:t>
            </a:r>
            <a:endParaRPr lang="en-US" sz="1300" dirty="0"/>
          </a:p>
        </p:txBody>
      </p:sp>
      <p:sp>
        <p:nvSpPr>
          <p:cNvPr id="17" name="Text 14"/>
          <p:cNvSpPr/>
          <p:nvPr/>
        </p:nvSpPr>
        <p:spPr>
          <a:xfrm>
            <a:off x="1051560" y="3630168"/>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Calculate descriptive statistics.</a:t>
            </a:r>
            <a:endParaRPr lang="en-US" b="1" dirty="0"/>
          </a:p>
        </p:txBody>
      </p:sp>
      <p:sp>
        <p:nvSpPr>
          <p:cNvPr id="18" name="Shape 15"/>
          <p:cNvSpPr/>
          <p:nvPr/>
        </p:nvSpPr>
        <p:spPr>
          <a:xfrm>
            <a:off x="6199632" y="3648456"/>
            <a:ext cx="384048" cy="384048"/>
          </a:xfrm>
          <a:prstGeom prst="ellipse">
            <a:avLst/>
          </a:prstGeom>
          <a:solidFill>
            <a:srgbClr val="0B3D5C"/>
          </a:solidFill>
        </p:spPr>
      </p:sp>
      <p:sp>
        <p:nvSpPr>
          <p:cNvPr id="19" name="Text 16"/>
          <p:cNvSpPr/>
          <p:nvPr/>
        </p:nvSpPr>
        <p:spPr>
          <a:xfrm>
            <a:off x="6199632" y="3648456"/>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4</a:t>
            </a:r>
            <a:endParaRPr lang="en-US" sz="1300" dirty="0"/>
          </a:p>
        </p:txBody>
      </p:sp>
      <p:sp>
        <p:nvSpPr>
          <p:cNvPr id="20" name="Text 17"/>
          <p:cNvSpPr/>
          <p:nvPr/>
        </p:nvSpPr>
        <p:spPr>
          <a:xfrm>
            <a:off x="6702552" y="3630168"/>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Compare water-quality parameters across sources or locations.</a:t>
            </a:r>
            <a:endParaRPr lang="en-US" b="1" dirty="0"/>
          </a:p>
        </p:txBody>
      </p:sp>
      <p:sp>
        <p:nvSpPr>
          <p:cNvPr id="21" name="Shape 18"/>
          <p:cNvSpPr/>
          <p:nvPr/>
        </p:nvSpPr>
        <p:spPr>
          <a:xfrm>
            <a:off x="548640" y="4306824"/>
            <a:ext cx="384048" cy="384048"/>
          </a:xfrm>
          <a:prstGeom prst="ellipse">
            <a:avLst/>
          </a:prstGeom>
          <a:solidFill>
            <a:srgbClr val="0B3D5C"/>
          </a:solidFill>
        </p:spPr>
      </p:sp>
      <p:sp>
        <p:nvSpPr>
          <p:cNvPr id="22" name="Text 19"/>
          <p:cNvSpPr/>
          <p:nvPr/>
        </p:nvSpPr>
        <p:spPr>
          <a:xfrm>
            <a:off x="548640" y="4306824"/>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5</a:t>
            </a:r>
            <a:endParaRPr lang="en-US" sz="1300" dirty="0"/>
          </a:p>
        </p:txBody>
      </p:sp>
      <p:sp>
        <p:nvSpPr>
          <p:cNvPr id="23" name="Text 20"/>
          <p:cNvSpPr/>
          <p:nvPr/>
        </p:nvSpPr>
        <p:spPr>
          <a:xfrm>
            <a:off x="1051560" y="4288536"/>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Analyze relationships between selected parameters.</a:t>
            </a:r>
            <a:endParaRPr lang="en-US" b="1" dirty="0"/>
          </a:p>
        </p:txBody>
      </p:sp>
      <p:sp>
        <p:nvSpPr>
          <p:cNvPr id="24" name="Shape 21"/>
          <p:cNvSpPr/>
          <p:nvPr/>
        </p:nvSpPr>
        <p:spPr>
          <a:xfrm>
            <a:off x="6199632" y="4306824"/>
            <a:ext cx="384048" cy="384048"/>
          </a:xfrm>
          <a:prstGeom prst="ellipse">
            <a:avLst/>
          </a:prstGeom>
          <a:solidFill>
            <a:srgbClr val="0B3D5C"/>
          </a:solidFill>
        </p:spPr>
      </p:sp>
      <p:sp>
        <p:nvSpPr>
          <p:cNvPr id="25" name="Text 22"/>
          <p:cNvSpPr/>
          <p:nvPr/>
        </p:nvSpPr>
        <p:spPr>
          <a:xfrm>
            <a:off x="6199632" y="4306824"/>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6</a:t>
            </a:r>
            <a:endParaRPr lang="en-US" sz="1300" dirty="0"/>
          </a:p>
        </p:txBody>
      </p:sp>
      <p:sp>
        <p:nvSpPr>
          <p:cNvPr id="26" name="Text 23"/>
          <p:cNvSpPr/>
          <p:nvPr/>
        </p:nvSpPr>
        <p:spPr>
          <a:xfrm>
            <a:off x="6702552" y="4288536"/>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Generate meaningful visualizations.</a:t>
            </a:r>
            <a:endParaRPr lang="en-US" b="1" dirty="0"/>
          </a:p>
        </p:txBody>
      </p:sp>
      <p:sp>
        <p:nvSpPr>
          <p:cNvPr id="27" name="Shape 24"/>
          <p:cNvSpPr/>
          <p:nvPr/>
        </p:nvSpPr>
        <p:spPr>
          <a:xfrm>
            <a:off x="548640" y="4965192"/>
            <a:ext cx="384048" cy="384048"/>
          </a:xfrm>
          <a:prstGeom prst="ellipse">
            <a:avLst/>
          </a:prstGeom>
          <a:solidFill>
            <a:srgbClr val="0B3D5C"/>
          </a:solidFill>
        </p:spPr>
      </p:sp>
      <p:sp>
        <p:nvSpPr>
          <p:cNvPr id="28" name="Text 25"/>
          <p:cNvSpPr/>
          <p:nvPr/>
        </p:nvSpPr>
        <p:spPr>
          <a:xfrm>
            <a:off x="548640" y="4965192"/>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7</a:t>
            </a:r>
            <a:endParaRPr lang="en-US" sz="1300" dirty="0"/>
          </a:p>
        </p:txBody>
      </p:sp>
      <p:sp>
        <p:nvSpPr>
          <p:cNvPr id="29" name="Text 26"/>
          <p:cNvSpPr/>
          <p:nvPr/>
        </p:nvSpPr>
        <p:spPr>
          <a:xfrm>
            <a:off x="1051560" y="4946904"/>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Compare measurements with selected water-quality criteria.</a:t>
            </a:r>
            <a:endParaRPr lang="en-US" b="1" dirty="0"/>
          </a:p>
        </p:txBody>
      </p:sp>
      <p:sp>
        <p:nvSpPr>
          <p:cNvPr id="30" name="Shape 27"/>
          <p:cNvSpPr/>
          <p:nvPr/>
        </p:nvSpPr>
        <p:spPr>
          <a:xfrm>
            <a:off x="6199632" y="4965192"/>
            <a:ext cx="384048" cy="384048"/>
          </a:xfrm>
          <a:prstGeom prst="ellipse">
            <a:avLst/>
          </a:prstGeom>
          <a:solidFill>
            <a:srgbClr val="0B3D5C"/>
          </a:solidFill>
        </p:spPr>
      </p:sp>
      <p:sp>
        <p:nvSpPr>
          <p:cNvPr id="31" name="Text 28"/>
          <p:cNvSpPr/>
          <p:nvPr/>
        </p:nvSpPr>
        <p:spPr>
          <a:xfrm>
            <a:off x="6199632" y="4965192"/>
            <a:ext cx="384048" cy="384048"/>
          </a:xfrm>
          <a:prstGeom prst="rect">
            <a:avLst/>
          </a:prstGeom>
          <a:noFill/>
        </p:spPr>
        <p:txBody>
          <a:bodyPr wrap="square" rtlCol="0" anchor="ctr"/>
          <a:lstStyle/>
          <a:p>
            <a:pPr marL="0" indent="0" algn="ctr">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8</a:t>
            </a:r>
            <a:endParaRPr lang="en-US" sz="1300" dirty="0"/>
          </a:p>
        </p:txBody>
      </p:sp>
      <p:sp>
        <p:nvSpPr>
          <p:cNvPr id="32" name="Text 29"/>
          <p:cNvSpPr/>
          <p:nvPr/>
        </p:nvSpPr>
        <p:spPr>
          <a:xfrm>
            <a:off x="6702552" y="4946904"/>
            <a:ext cx="4937760" cy="594360"/>
          </a:xfrm>
          <a:prstGeom prst="rect">
            <a:avLst/>
          </a:prstGeom>
          <a:noFill/>
        </p:spPr>
        <p:txBody>
          <a:bodyPr wrap="square" rtlCol="0" anchor="ctr"/>
          <a:lstStyle/>
          <a:p>
            <a:pPr marL="0" indent="0">
              <a:buNone/>
            </a:pPr>
            <a:r>
              <a:rPr lang="en-US" b="1" dirty="0">
                <a:solidFill>
                  <a:srgbClr val="2B3A42"/>
                </a:solidFill>
                <a:latin typeface="Calibri" panose="020F0502020204030204" charset="0"/>
                <a:ea typeface="Calibri" panose="020F0502020204030204" pitchFamily="34" charset="-122"/>
                <a:cs typeface="Calibri" panose="020F0502020204030204" pitchFamily="34" charset="-120"/>
              </a:rPr>
              <a:t>Generate a structured water-quality assessment report.</a:t>
            </a:r>
            <a:endParaRPr lang="en-US" b="1" dirty="0"/>
          </a:p>
        </p:txBody>
      </p:sp>
      <p:sp>
        <p:nvSpPr>
          <p:cNvPr id="63" name="Text 31"/>
          <p:cNvSpPr/>
          <p:nvPr/>
        </p:nvSpPr>
        <p:spPr>
          <a:xfrm>
            <a:off x="11274552" y="6510528"/>
            <a:ext cx="457200" cy="274320"/>
          </a:xfrm>
          <a:prstGeom prst="rect">
            <a:avLst/>
          </a:prstGeom>
          <a:noFill/>
        </p:spPr>
        <p:txBody>
          <a:bodyPr wrap="square" rtlCol="0" anchor="ctr"/>
          <a:lstStyle/>
          <a:p>
            <a:pPr marL="0" indent="0" algn="r">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4</a:t>
            </a:r>
            <a:endParaRPr lang="en-US" sz="900" dirty="0"/>
          </a:p>
        </p:txBody>
      </p:sp>
      <p:pic>
        <p:nvPicPr>
          <p:cNvPr id="64" name="Picture 63"/>
          <p:cNvPicPr/>
          <p:nvPr/>
        </p:nvPicPr>
        <p:blipFill>
          <a:blip r:embed="rId1"/>
          <a:stretch>
            <a:fillRect/>
          </a:stretch>
        </p:blipFill>
        <p:spPr>
          <a:xfrm>
            <a:off x="85725" y="95885"/>
            <a:ext cx="1649095" cy="1151255"/>
          </a:xfrm>
          <a:prstGeom prst="rect">
            <a:avLst/>
          </a:prstGeom>
        </p:spPr>
      </p:pic>
      <p:pic>
        <p:nvPicPr>
          <p:cNvPr id="65" name="Picture 64"/>
          <p:cNvPicPr/>
          <p:nvPr/>
        </p:nvPicPr>
        <p:blipFill>
          <a:blip r:embed="rId2"/>
          <a:stretch>
            <a:fillRect/>
          </a:stretch>
        </p:blipFill>
        <p:spPr>
          <a:xfrm>
            <a:off x="10632440" y="122555"/>
            <a:ext cx="1262380" cy="1124585"/>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1"/>
          <p:cNvSpPr/>
          <p:nvPr/>
        </p:nvSpPr>
        <p:spPr>
          <a:xfrm>
            <a:off x="3048000" y="594360"/>
            <a:ext cx="9144000" cy="548640"/>
          </a:xfrm>
          <a:prstGeom prst="rect">
            <a:avLst/>
          </a:prstGeom>
          <a:noFill/>
        </p:spPr>
        <p:txBody>
          <a:bodyPr wrap="square" rtlCol="0" anchor="ctr"/>
          <a:lstStyle/>
          <a:p>
            <a:pPr marL="0" indent="0">
              <a:buNone/>
            </a:pPr>
            <a:r>
              <a:rPr lang="en-US" sz="2800" b="1" u="sng"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rPr>
              <a:t>How the System Maps to SDGs</a:t>
            </a:r>
            <a:endParaRPr lang="en-US" sz="2800" b="1" u="sng" dirty="0">
              <a:solidFill>
                <a:schemeClr val="accent1">
                  <a:lumMod val="75000"/>
                </a:schemeClr>
              </a:solidFill>
              <a:latin typeface="Cambria" panose="02040503050406030204" pitchFamily="34" charset="0"/>
              <a:ea typeface="Cambria" panose="02040503050406030204" pitchFamily="34" charset="-122"/>
              <a:cs typeface="Cambria" panose="02040503050406030204" pitchFamily="34" charset="-120"/>
            </a:endParaRPr>
          </a:p>
        </p:txBody>
      </p:sp>
      <p:sp>
        <p:nvSpPr>
          <p:cNvPr id="7" name="Text 3"/>
          <p:cNvSpPr/>
          <p:nvPr/>
        </p:nvSpPr>
        <p:spPr>
          <a:xfrm>
            <a:off x="594360" y="1920240"/>
            <a:ext cx="187452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a:t>
            </a:r>
            <a:endParaRPr lang="en-US" sz="3400" dirty="0"/>
          </a:p>
        </p:txBody>
      </p:sp>
      <p:sp>
        <p:nvSpPr>
          <p:cNvPr id="8" name="Text 4"/>
          <p:cNvSpPr/>
          <p:nvPr/>
        </p:nvSpPr>
        <p:spPr>
          <a:xfrm>
            <a:off x="594360" y="2743200"/>
            <a:ext cx="1874520" cy="868680"/>
          </a:xfrm>
          <a:prstGeom prst="rect">
            <a:avLst/>
          </a:prstGeom>
          <a:noFill/>
        </p:spPr>
        <p:txBody>
          <a:bodyPr wrap="square" rtlCol="0" anchor="ctr"/>
          <a:lstStyle/>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Decent Work &amp;</a:t>
            </a:r>
            <a:endParaRPr lang="en-US" sz="1300" dirty="0"/>
          </a:p>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Economic Growth</a:t>
            </a:r>
            <a:endParaRPr lang="en-US" sz="1300" dirty="0"/>
          </a:p>
        </p:txBody>
      </p:sp>
      <p:sp>
        <p:nvSpPr>
          <p:cNvPr id="9" name="Shape 5"/>
          <p:cNvSpPr/>
          <p:nvPr/>
        </p:nvSpPr>
        <p:spPr>
          <a:xfrm>
            <a:off x="594360" y="3703320"/>
            <a:ext cx="1874520" cy="0"/>
          </a:xfrm>
          <a:prstGeom prst="line">
            <a:avLst/>
          </a:prstGeom>
          <a:noFill/>
          <a:ln w="9525">
            <a:solidFill>
              <a:srgbClr val="FFFFFF">
                <a:alpha val="60000"/>
              </a:srgbClr>
            </a:solidFill>
            <a:prstDash val="solid"/>
          </a:ln>
        </p:spPr>
      </p:sp>
      <p:sp>
        <p:nvSpPr>
          <p:cNvPr id="10" name="Text 6"/>
          <p:cNvSpPr/>
          <p:nvPr/>
        </p:nvSpPr>
        <p:spPr>
          <a:xfrm>
            <a:off x="594360" y="3886200"/>
            <a:ext cx="1874520" cy="1828800"/>
          </a:xfrm>
          <a:prstGeom prst="rect">
            <a:avLst/>
          </a:prstGeom>
          <a:noFill/>
        </p:spPr>
        <p:txBody>
          <a:bodyPr wrap="square" rtlCol="0" anchor="ctr"/>
          <a:lstStyle/>
          <a:p>
            <a:pPr marL="0" indent="0">
              <a:lnSpc>
                <a:spcPts val="1500"/>
              </a:lnSpc>
              <a:buNone/>
            </a:pPr>
            <a:r>
              <a:rPr lang="en-US" sz="1150" dirty="0">
                <a:solidFill>
                  <a:srgbClr val="FFFFFF"/>
                </a:solidFill>
                <a:latin typeface="Calibri" panose="020F0502020204030204" charset="0"/>
                <a:ea typeface="Calibri" panose="020F0502020204030204" pitchFamily="34" charset="-122"/>
                <a:cs typeface="Calibri" panose="020F0502020204030204" pitchFamily="34" charset="-120"/>
              </a:rPr>
              <a:t>Routes tourist spend to local guides, artisans &amp; small heritage-town businesses.</a:t>
            </a:r>
            <a:endParaRPr lang="en-US" sz="1150" dirty="0"/>
          </a:p>
        </p:txBody>
      </p:sp>
      <p:sp>
        <p:nvSpPr>
          <p:cNvPr id="12" name="Text 8"/>
          <p:cNvSpPr/>
          <p:nvPr/>
        </p:nvSpPr>
        <p:spPr>
          <a:xfrm>
            <a:off x="2889504" y="1920240"/>
            <a:ext cx="187452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a:t>
            </a:r>
            <a:endParaRPr lang="en-US" sz="3400" dirty="0"/>
          </a:p>
        </p:txBody>
      </p:sp>
      <p:sp>
        <p:nvSpPr>
          <p:cNvPr id="13" name="Text 9"/>
          <p:cNvSpPr/>
          <p:nvPr/>
        </p:nvSpPr>
        <p:spPr>
          <a:xfrm>
            <a:off x="2889504" y="2743200"/>
            <a:ext cx="1874520" cy="868680"/>
          </a:xfrm>
          <a:prstGeom prst="rect">
            <a:avLst/>
          </a:prstGeom>
          <a:noFill/>
        </p:spPr>
        <p:txBody>
          <a:bodyPr wrap="square" rtlCol="0" anchor="ctr"/>
          <a:lstStyle/>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Industry, Innovation</a:t>
            </a:r>
            <a:endParaRPr lang="en-US" sz="1300" dirty="0"/>
          </a:p>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&amp; Infrastructure</a:t>
            </a:r>
            <a:endParaRPr lang="en-US" sz="1300" dirty="0"/>
          </a:p>
        </p:txBody>
      </p:sp>
      <p:sp>
        <p:nvSpPr>
          <p:cNvPr id="14" name="Shape 10"/>
          <p:cNvSpPr/>
          <p:nvPr/>
        </p:nvSpPr>
        <p:spPr>
          <a:xfrm>
            <a:off x="2889504" y="3703320"/>
            <a:ext cx="1874520" cy="0"/>
          </a:xfrm>
          <a:prstGeom prst="line">
            <a:avLst/>
          </a:prstGeom>
          <a:noFill/>
          <a:ln w="9525">
            <a:solidFill>
              <a:srgbClr val="FFFFFF">
                <a:alpha val="60000"/>
              </a:srgbClr>
            </a:solidFill>
            <a:prstDash val="solid"/>
          </a:ln>
        </p:spPr>
      </p:sp>
      <p:sp>
        <p:nvSpPr>
          <p:cNvPr id="15" name="Text 11"/>
          <p:cNvSpPr/>
          <p:nvPr/>
        </p:nvSpPr>
        <p:spPr>
          <a:xfrm>
            <a:off x="2889504" y="3886200"/>
            <a:ext cx="1874520" cy="1828800"/>
          </a:xfrm>
          <a:prstGeom prst="rect">
            <a:avLst/>
          </a:prstGeom>
          <a:noFill/>
        </p:spPr>
        <p:txBody>
          <a:bodyPr wrap="square" rtlCol="0" anchor="ctr"/>
          <a:lstStyle/>
          <a:p>
            <a:pPr marL="0" indent="0">
              <a:lnSpc>
                <a:spcPts val="1500"/>
              </a:lnSpc>
              <a:buNone/>
            </a:pPr>
            <a:r>
              <a:rPr lang="en-US" sz="1150" dirty="0">
                <a:solidFill>
                  <a:srgbClr val="FFFFFF"/>
                </a:solidFill>
                <a:latin typeface="Calibri" panose="020F0502020204030204" charset="0"/>
                <a:ea typeface="Calibri" panose="020F0502020204030204" pitchFamily="34" charset="-122"/>
                <a:cs typeface="Calibri" panose="020F0502020204030204" pitchFamily="34" charset="-120"/>
              </a:rPr>
              <a:t>Digitises rail booking and tourism discovery on one resilient platform.</a:t>
            </a:r>
            <a:endParaRPr lang="en-US" sz="1150" dirty="0"/>
          </a:p>
        </p:txBody>
      </p:sp>
      <p:sp>
        <p:nvSpPr>
          <p:cNvPr id="17" name="Text 13"/>
          <p:cNvSpPr/>
          <p:nvPr/>
        </p:nvSpPr>
        <p:spPr>
          <a:xfrm>
            <a:off x="5184648" y="1920240"/>
            <a:ext cx="187452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11</a:t>
            </a:r>
            <a:endParaRPr lang="en-US" sz="3400" dirty="0"/>
          </a:p>
        </p:txBody>
      </p:sp>
      <p:sp>
        <p:nvSpPr>
          <p:cNvPr id="18" name="Text 14"/>
          <p:cNvSpPr/>
          <p:nvPr/>
        </p:nvSpPr>
        <p:spPr>
          <a:xfrm>
            <a:off x="5184648" y="2743200"/>
            <a:ext cx="1874520" cy="868680"/>
          </a:xfrm>
          <a:prstGeom prst="rect">
            <a:avLst/>
          </a:prstGeom>
          <a:noFill/>
        </p:spPr>
        <p:txBody>
          <a:bodyPr wrap="square" rtlCol="0" anchor="ctr"/>
          <a:lstStyle/>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Sustainable Cities</a:t>
            </a:r>
            <a:endParaRPr lang="en-US" sz="1300" dirty="0"/>
          </a:p>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&amp; Communities</a:t>
            </a:r>
            <a:endParaRPr lang="en-US" sz="1300" dirty="0"/>
          </a:p>
        </p:txBody>
      </p:sp>
      <p:sp>
        <p:nvSpPr>
          <p:cNvPr id="19" name="Shape 15"/>
          <p:cNvSpPr/>
          <p:nvPr/>
        </p:nvSpPr>
        <p:spPr>
          <a:xfrm>
            <a:off x="5184648" y="3703320"/>
            <a:ext cx="1874520" cy="0"/>
          </a:xfrm>
          <a:prstGeom prst="line">
            <a:avLst/>
          </a:prstGeom>
          <a:noFill/>
          <a:ln w="9525">
            <a:solidFill>
              <a:srgbClr val="FFFFFF">
                <a:alpha val="60000"/>
              </a:srgbClr>
            </a:solidFill>
            <a:prstDash val="solid"/>
          </a:ln>
        </p:spPr>
      </p:sp>
      <p:sp>
        <p:nvSpPr>
          <p:cNvPr id="20" name="Text 16"/>
          <p:cNvSpPr/>
          <p:nvPr/>
        </p:nvSpPr>
        <p:spPr>
          <a:xfrm>
            <a:off x="5184648" y="3886200"/>
            <a:ext cx="1874520" cy="1828800"/>
          </a:xfrm>
          <a:prstGeom prst="rect">
            <a:avLst/>
          </a:prstGeom>
          <a:noFill/>
        </p:spPr>
        <p:txBody>
          <a:bodyPr wrap="square" rtlCol="0" anchor="ctr"/>
          <a:lstStyle/>
          <a:p>
            <a:pPr marL="0" indent="0">
              <a:lnSpc>
                <a:spcPts val="1500"/>
              </a:lnSpc>
              <a:buNone/>
            </a:pPr>
            <a:r>
              <a:rPr lang="en-US" sz="1150" dirty="0">
                <a:solidFill>
                  <a:srgbClr val="FFFFFF"/>
                </a:solidFill>
                <a:latin typeface="Calibri" panose="020F0502020204030204" charset="0"/>
                <a:ea typeface="Calibri" panose="020F0502020204030204" pitchFamily="34" charset="-122"/>
                <a:cs typeface="Calibri" panose="020F0502020204030204" pitchFamily="34" charset="-120"/>
              </a:rPr>
              <a:t>Eases congestion by shifting short-haul travel from road/air to rail.</a:t>
            </a:r>
            <a:endParaRPr lang="en-US" sz="1150" dirty="0"/>
          </a:p>
        </p:txBody>
      </p:sp>
      <p:sp>
        <p:nvSpPr>
          <p:cNvPr id="22" name="Text 18"/>
          <p:cNvSpPr/>
          <p:nvPr/>
        </p:nvSpPr>
        <p:spPr>
          <a:xfrm>
            <a:off x="7479792" y="1920240"/>
            <a:ext cx="187452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12</a:t>
            </a:r>
            <a:endParaRPr lang="en-US" sz="3400" dirty="0"/>
          </a:p>
        </p:txBody>
      </p:sp>
      <p:sp>
        <p:nvSpPr>
          <p:cNvPr id="23" name="Text 19"/>
          <p:cNvSpPr/>
          <p:nvPr/>
        </p:nvSpPr>
        <p:spPr>
          <a:xfrm>
            <a:off x="7479792" y="2743200"/>
            <a:ext cx="1874520" cy="868680"/>
          </a:xfrm>
          <a:prstGeom prst="rect">
            <a:avLst/>
          </a:prstGeom>
          <a:noFill/>
        </p:spPr>
        <p:txBody>
          <a:bodyPr wrap="square" rtlCol="0" anchor="ctr"/>
          <a:lstStyle/>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Responsible</a:t>
            </a:r>
            <a:endParaRPr lang="en-US" sz="1300" dirty="0"/>
          </a:p>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Consumption</a:t>
            </a:r>
            <a:endParaRPr lang="en-US" sz="1300" dirty="0"/>
          </a:p>
        </p:txBody>
      </p:sp>
      <p:sp>
        <p:nvSpPr>
          <p:cNvPr id="24" name="Shape 20"/>
          <p:cNvSpPr/>
          <p:nvPr/>
        </p:nvSpPr>
        <p:spPr>
          <a:xfrm>
            <a:off x="7479792" y="3703320"/>
            <a:ext cx="1874520" cy="0"/>
          </a:xfrm>
          <a:prstGeom prst="line">
            <a:avLst/>
          </a:prstGeom>
          <a:noFill/>
          <a:ln w="9525">
            <a:solidFill>
              <a:srgbClr val="FFFFFF">
                <a:alpha val="60000"/>
              </a:srgbClr>
            </a:solidFill>
            <a:prstDash val="solid"/>
          </a:ln>
        </p:spPr>
      </p:sp>
      <p:sp>
        <p:nvSpPr>
          <p:cNvPr id="25" name="Text 21"/>
          <p:cNvSpPr/>
          <p:nvPr/>
        </p:nvSpPr>
        <p:spPr>
          <a:xfrm>
            <a:off x="7479792" y="3886200"/>
            <a:ext cx="1874520" cy="1828800"/>
          </a:xfrm>
          <a:prstGeom prst="rect">
            <a:avLst/>
          </a:prstGeom>
          <a:noFill/>
        </p:spPr>
        <p:txBody>
          <a:bodyPr wrap="square" rtlCol="0" anchor="ctr"/>
          <a:lstStyle/>
          <a:p>
            <a:pPr marL="0" indent="0">
              <a:lnSpc>
                <a:spcPts val="1500"/>
              </a:lnSpc>
              <a:buNone/>
            </a:pPr>
            <a:r>
              <a:rPr lang="en-US" sz="1150" dirty="0">
                <a:solidFill>
                  <a:srgbClr val="FFFFFF"/>
                </a:solidFill>
                <a:latin typeface="Calibri" panose="020F0502020204030204" charset="0"/>
                <a:ea typeface="Calibri" panose="020F0502020204030204" pitchFamily="34" charset="-122"/>
                <a:cs typeface="Calibri" panose="020F0502020204030204" pitchFamily="34" charset="-120"/>
              </a:rPr>
              <a:t>Carbon-comparison dashboard nudges travellers toward lower-impact trips.</a:t>
            </a:r>
            <a:endParaRPr lang="en-US" sz="1150" dirty="0"/>
          </a:p>
        </p:txBody>
      </p:sp>
      <p:sp>
        <p:nvSpPr>
          <p:cNvPr id="27" name="Text 23"/>
          <p:cNvSpPr/>
          <p:nvPr/>
        </p:nvSpPr>
        <p:spPr>
          <a:xfrm>
            <a:off x="9774936" y="1920240"/>
            <a:ext cx="1874520" cy="77724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17</a:t>
            </a:r>
            <a:endParaRPr lang="en-US" sz="3400" dirty="0"/>
          </a:p>
        </p:txBody>
      </p:sp>
      <p:sp>
        <p:nvSpPr>
          <p:cNvPr id="28" name="Text 24"/>
          <p:cNvSpPr/>
          <p:nvPr/>
        </p:nvSpPr>
        <p:spPr>
          <a:xfrm>
            <a:off x="9774936" y="2743200"/>
            <a:ext cx="1874520" cy="868680"/>
          </a:xfrm>
          <a:prstGeom prst="rect">
            <a:avLst/>
          </a:prstGeom>
          <a:noFill/>
        </p:spPr>
        <p:txBody>
          <a:bodyPr wrap="square" rtlCol="0" anchor="ctr"/>
          <a:lstStyle/>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Partnerships</a:t>
            </a:r>
            <a:endParaRPr lang="en-US" sz="1300" dirty="0"/>
          </a:p>
          <a:p>
            <a:pPr marL="0" indent="0">
              <a:lnSpc>
                <a:spcPts val="1500"/>
              </a:lnSpc>
              <a:buNone/>
            </a:pPr>
            <a:r>
              <a:rPr lang="en-US" sz="1300" b="1" dirty="0">
                <a:solidFill>
                  <a:srgbClr val="FFFFFF"/>
                </a:solidFill>
                <a:latin typeface="Calibri" panose="020F0502020204030204" charset="0"/>
                <a:ea typeface="Calibri" panose="020F0502020204030204" pitchFamily="34" charset="-122"/>
                <a:cs typeface="Calibri" panose="020F0502020204030204" pitchFamily="34" charset="-120"/>
              </a:rPr>
              <a:t>for the Goals</a:t>
            </a:r>
            <a:endParaRPr lang="en-US" sz="1300" dirty="0"/>
          </a:p>
        </p:txBody>
      </p:sp>
      <p:sp>
        <p:nvSpPr>
          <p:cNvPr id="29" name="Shape 25"/>
          <p:cNvSpPr/>
          <p:nvPr/>
        </p:nvSpPr>
        <p:spPr>
          <a:xfrm>
            <a:off x="9774936" y="3703320"/>
            <a:ext cx="1874520" cy="0"/>
          </a:xfrm>
          <a:prstGeom prst="line">
            <a:avLst/>
          </a:prstGeom>
          <a:noFill/>
          <a:ln w="9525">
            <a:solidFill>
              <a:srgbClr val="FFFFFF">
                <a:alpha val="60000"/>
              </a:srgbClr>
            </a:solidFill>
            <a:prstDash val="solid"/>
          </a:ln>
        </p:spPr>
      </p:sp>
      <p:sp>
        <p:nvSpPr>
          <p:cNvPr id="30" name="Text 26"/>
          <p:cNvSpPr/>
          <p:nvPr/>
        </p:nvSpPr>
        <p:spPr>
          <a:xfrm>
            <a:off x="9774936" y="3886200"/>
            <a:ext cx="1874520" cy="1828800"/>
          </a:xfrm>
          <a:prstGeom prst="rect">
            <a:avLst/>
          </a:prstGeom>
          <a:noFill/>
        </p:spPr>
        <p:txBody>
          <a:bodyPr wrap="square" rtlCol="0" anchor="ctr"/>
          <a:lstStyle/>
          <a:p>
            <a:pPr marL="0" indent="0">
              <a:lnSpc>
                <a:spcPts val="1500"/>
              </a:lnSpc>
              <a:buNone/>
            </a:pPr>
            <a:r>
              <a:rPr lang="en-US" sz="1150" dirty="0">
                <a:solidFill>
                  <a:srgbClr val="FFFFFF"/>
                </a:solidFill>
                <a:latin typeface="Calibri" panose="020F0502020204030204" charset="0"/>
                <a:ea typeface="Calibri" panose="020F0502020204030204" pitchFamily="34" charset="-122"/>
                <a:cs typeface="Calibri" panose="020F0502020204030204" pitchFamily="34" charset="-120"/>
              </a:rPr>
              <a:t>Integrates with tourism boards &amp; heritage authorities for verified data.</a:t>
            </a:r>
            <a:endParaRPr lang="en-US" sz="1150" dirty="0"/>
          </a:p>
        </p:txBody>
      </p:sp>
      <p:sp>
        <p:nvSpPr>
          <p:cNvPr id="32" name="Text 28"/>
          <p:cNvSpPr/>
          <p:nvPr/>
        </p:nvSpPr>
        <p:spPr>
          <a:xfrm>
            <a:off x="11277295" y="6446520"/>
            <a:ext cx="457200" cy="274320"/>
          </a:xfrm>
          <a:prstGeom prst="rect">
            <a:avLst/>
          </a:prstGeom>
          <a:noFill/>
        </p:spPr>
        <p:txBody>
          <a:bodyPr wrap="square" rtlCol="0" anchor="ctr"/>
          <a:lstStyle/>
          <a:p>
            <a:pPr marL="0" indent="0" algn="r">
              <a:buNone/>
            </a:pPr>
            <a:r>
              <a:rPr lang="en-US" sz="1000" dirty="0">
                <a:solidFill>
                  <a:srgbClr val="5C7A78"/>
                </a:solidFill>
                <a:latin typeface="Calibri" panose="020F0502020204030204" charset="0"/>
                <a:ea typeface="Calibri" panose="020F0502020204030204" pitchFamily="34" charset="-122"/>
                <a:cs typeface="Calibri" panose="020F0502020204030204" pitchFamily="34" charset="-120"/>
              </a:rPr>
              <a:t>5</a:t>
            </a:r>
            <a:endParaRPr lang="en-US" sz="1000" dirty="0"/>
          </a:p>
        </p:txBody>
      </p:sp>
      <p:pic>
        <p:nvPicPr>
          <p:cNvPr id="4" name="Picture 3" descr="ChatGPT Image Aug 2, 2026, 10_19_36 PM"/>
          <p:cNvPicPr>
            <a:picLocks noChangeAspect="1"/>
          </p:cNvPicPr>
          <p:nvPr/>
        </p:nvPicPr>
        <p:blipFill>
          <a:blip r:embed="rId1"/>
          <a:stretch>
            <a:fillRect/>
          </a:stretch>
        </p:blipFill>
        <p:spPr>
          <a:xfrm>
            <a:off x="835025" y="0"/>
            <a:ext cx="10404475" cy="6858000"/>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4358640" y="76835"/>
            <a:ext cx="2456815" cy="705485"/>
          </a:xfrm>
        </p:spPr>
        <p:txBody>
          <a:bodyPr/>
          <a:p>
            <a:r>
              <a:rPr lang="en-US" sz="2800" b="1">
                <a:solidFill>
                  <a:srgbClr val="FF0000"/>
                </a:solidFill>
                <a:latin typeface="Times New Roman" panose="02020603050405020304" charset="0"/>
                <a:cs typeface="Times New Roman" panose="02020603050405020304" charset="0"/>
              </a:rPr>
              <a:t>MODULE 1</a:t>
            </a:r>
            <a:endParaRPr lang="en-US" sz="2800"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372745" y="1620520"/>
            <a:ext cx="6737985" cy="4759325"/>
          </a:xfrm>
        </p:spPr>
        <p:txBody>
          <a:bodyPr>
            <a:normAutofit/>
          </a:bodyPr>
          <a:p>
            <a:pPr>
              <a:lnSpc>
                <a:spcPct val="150000"/>
              </a:lnSpc>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sym typeface="+mn-ea"/>
              </a:rPr>
              <a:t>Module 1 forms the foundation of the entire project. Before any statistical analysis can be performed in R, household drinking-water data must first be identified, recorded, and organized into a structured, machine-readable format. </a:t>
            </a:r>
            <a:endParaRPr lang="en-US" sz="1600"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a:p>
            <a:pPr>
              <a:lnSpc>
                <a:spcPct val="150000"/>
              </a:lnSpc>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sym typeface="+mn-ea"/>
              </a:rPr>
              <a:t>This module covers the full journey of the data — from the household or sampling location where a measurement is taken, to a clean CSV or Excel file that is ready to be imported into R for analysis.</a:t>
            </a:r>
            <a:endParaRPr lang="en-US" sz="1600"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a:p>
            <a:pPr>
              <a:lnSpc>
                <a:spcPct val="150000"/>
              </a:lnSpc>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sym typeface="+mn-ea"/>
              </a:rPr>
              <a:t> The quality of every later result, from descriptive statistics to correlation analysis to the final water-quality assessment, depends directly on how carefully this stage is carried out.</a:t>
            </a:r>
            <a:endParaRPr lang="en-US" sz="1600" dirty="0">
              <a:latin typeface="Times New Roman" panose="02020603050405020304" charset="0"/>
              <a:cs typeface="Times New Roman" panose="02020603050405020304" charset="0"/>
            </a:endParaRPr>
          </a:p>
          <a:p>
            <a:pPr>
              <a:lnSpc>
                <a:spcPct val="150000"/>
              </a:lnSpc>
            </a:pPr>
            <a:endParaRPr lang="en-US" sz="1600">
              <a:latin typeface="Times New Roman" panose="02020603050405020304" charset="0"/>
              <a:cs typeface="Times New Roman" panose="02020603050405020304" charset="0"/>
            </a:endParaRPr>
          </a:p>
        </p:txBody>
      </p:sp>
      <p:sp>
        <p:nvSpPr>
          <p:cNvPr id="4" name="Text Box 3"/>
          <p:cNvSpPr txBox="1"/>
          <p:nvPr/>
        </p:nvSpPr>
        <p:spPr>
          <a:xfrm>
            <a:off x="2133600" y="645795"/>
            <a:ext cx="7925435" cy="429895"/>
          </a:xfrm>
          <a:prstGeom prst="rect">
            <a:avLst/>
          </a:prstGeom>
          <a:noFill/>
        </p:spPr>
        <p:txBody>
          <a:bodyPr wrap="square" rtlCol="0" anchor="t">
            <a:spAutoFit/>
          </a:bodyPr>
          <a:p>
            <a:pPr marL="0" indent="0">
              <a:buNone/>
            </a:pPr>
            <a:r>
              <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rPr>
              <a:t>Data Collection and Preparation: Purpose and Process</a:t>
            </a:r>
            <a:endPar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endParaRPr>
          </a:p>
        </p:txBody>
      </p:sp>
      <p:sp>
        <p:nvSpPr>
          <p:cNvPr id="12" name="Shape 5"/>
          <p:cNvSpPr/>
          <p:nvPr/>
        </p:nvSpPr>
        <p:spPr>
          <a:xfrm>
            <a:off x="7413625" y="1464945"/>
            <a:ext cx="4318000" cy="4801870"/>
          </a:xfrm>
          <a:prstGeom prst="roundRect">
            <a:avLst>
              <a:gd name="adj" fmla="val 2092"/>
            </a:avLst>
          </a:prstGeom>
          <a:solidFill>
            <a:srgbClr val="EAF5F8"/>
          </a:solidFill>
        </p:spPr>
      </p:sp>
      <p:sp>
        <p:nvSpPr>
          <p:cNvPr id="13" name="Text 6"/>
          <p:cNvSpPr/>
          <p:nvPr/>
        </p:nvSpPr>
        <p:spPr>
          <a:xfrm>
            <a:off x="7498080" y="1371600"/>
            <a:ext cx="3931920" cy="365760"/>
          </a:xfrm>
          <a:prstGeom prst="rect">
            <a:avLst/>
          </a:prstGeom>
          <a:noFill/>
        </p:spPr>
        <p:txBody>
          <a:bodyPr wrap="square" rtlCol="0" anchor="ctr"/>
          <a:lstStyle/>
          <a:p>
            <a:pPr marL="0" indent="0">
              <a:buNone/>
            </a:pPr>
            <a:r>
              <a:rPr lang="en-US" sz="1450" b="1" dirty="0">
                <a:solidFill>
                  <a:srgbClr val="0B3D5C"/>
                </a:solidFill>
                <a:latin typeface="Cambria" panose="02040503050406030204" pitchFamily="34" charset="0"/>
                <a:ea typeface="Cambria" panose="02040503050406030204" pitchFamily="34" charset="-122"/>
                <a:cs typeface="Cambria" panose="02040503050406030204" pitchFamily="34" charset="-120"/>
              </a:rPr>
              <a:t>Module 1 Workflow</a:t>
            </a:r>
            <a:endParaRPr lang="en-US" sz="1450" dirty="0"/>
          </a:p>
        </p:txBody>
      </p:sp>
      <p:sp>
        <p:nvSpPr>
          <p:cNvPr id="14" name="Shape 7"/>
          <p:cNvSpPr/>
          <p:nvPr/>
        </p:nvSpPr>
        <p:spPr>
          <a:xfrm>
            <a:off x="7498080" y="1828800"/>
            <a:ext cx="457200" cy="457200"/>
          </a:xfrm>
          <a:prstGeom prst="ellipse">
            <a:avLst/>
          </a:prstGeom>
          <a:solidFill>
            <a:srgbClr val="1C7293"/>
          </a:solidFill>
        </p:spPr>
      </p:sp>
      <p:pic>
        <p:nvPicPr>
          <p:cNvPr id="15" name="Image 1" descr="/home/claude/water_ppt/icon_map_white.png"/>
          <p:cNvPicPr>
            <a:picLocks noChangeAspect="1"/>
          </p:cNvPicPr>
          <p:nvPr/>
        </p:nvPicPr>
        <p:blipFill>
          <a:blip r:embed="rId3"/>
          <a:stretch>
            <a:fillRect/>
          </a:stretch>
        </p:blipFill>
        <p:spPr>
          <a:xfrm>
            <a:off x="7557516" y="1888236"/>
            <a:ext cx="338328" cy="338328"/>
          </a:xfrm>
          <a:prstGeom prst="rect">
            <a:avLst/>
          </a:prstGeom>
        </p:spPr>
      </p:pic>
      <p:sp>
        <p:nvSpPr>
          <p:cNvPr id="16" name="Text 8"/>
          <p:cNvSpPr/>
          <p:nvPr/>
        </p:nvSpPr>
        <p:spPr>
          <a:xfrm>
            <a:off x="8092440" y="1792224"/>
            <a:ext cx="3337560" cy="274320"/>
          </a:xfrm>
          <a:prstGeom prst="rect">
            <a:avLst/>
          </a:prstGeom>
          <a:noFill/>
        </p:spPr>
        <p:txBody>
          <a:bodyPr wrap="square" rtlCol="0" anchor="ctr"/>
          <a:lstStyle/>
          <a:p>
            <a:pPr marL="0" indent="0">
              <a:buNone/>
            </a:pPr>
            <a:r>
              <a:rPr lang="en-US" sz="1150" b="1" dirty="0">
                <a:solidFill>
                  <a:srgbClr val="0B3D5C"/>
                </a:solidFill>
                <a:latin typeface="Calibri" panose="020F0502020204030204" charset="0"/>
                <a:ea typeface="Calibri" panose="020F0502020204030204" pitchFamily="34" charset="-122"/>
                <a:cs typeface="Calibri" panose="020F0502020204030204" pitchFamily="34" charset="-120"/>
              </a:rPr>
              <a:t>Identify Sampling Points</a:t>
            </a:r>
            <a:endParaRPr lang="en-US" sz="1150" dirty="0"/>
          </a:p>
        </p:txBody>
      </p:sp>
      <p:sp>
        <p:nvSpPr>
          <p:cNvPr id="17" name="Text 9"/>
          <p:cNvSpPr/>
          <p:nvPr/>
        </p:nvSpPr>
        <p:spPr>
          <a:xfrm>
            <a:off x="8092440" y="2048256"/>
            <a:ext cx="3337560" cy="502920"/>
          </a:xfrm>
          <a:prstGeom prst="rect">
            <a:avLst/>
          </a:prstGeom>
          <a:noFill/>
        </p:spPr>
        <p:txBody>
          <a:bodyPr wrap="square" rtlCol="0" anchor="ctr"/>
          <a:lstStyle/>
          <a:p>
            <a:pPr marL="0" indent="0">
              <a:lnSpc>
                <a:spcPct val="115000"/>
              </a:lnSpc>
              <a:buNone/>
            </a:pPr>
            <a:r>
              <a:rPr lang="en-US" sz="970" dirty="0">
                <a:solidFill>
                  <a:srgbClr val="6B7E86"/>
                </a:solidFill>
                <a:latin typeface="Calibri" panose="020F0502020204030204" charset="0"/>
                <a:ea typeface="Calibri" panose="020F0502020204030204" pitchFamily="34" charset="-122"/>
                <a:cs typeface="Calibri" panose="020F0502020204030204" pitchFamily="34" charset="-120"/>
              </a:rPr>
              <a:t>Households or locations are selected and assigned unique Sample IDs.</a:t>
            </a:r>
            <a:endParaRPr lang="en-US" sz="970" dirty="0"/>
          </a:p>
        </p:txBody>
      </p:sp>
      <p:sp>
        <p:nvSpPr>
          <p:cNvPr id="18" name="Shape 10"/>
          <p:cNvSpPr/>
          <p:nvPr/>
        </p:nvSpPr>
        <p:spPr>
          <a:xfrm>
            <a:off x="7498080" y="2679192"/>
            <a:ext cx="457200" cy="457200"/>
          </a:xfrm>
          <a:prstGeom prst="ellipse">
            <a:avLst/>
          </a:prstGeom>
          <a:solidFill>
            <a:srgbClr val="1C7293"/>
          </a:solidFill>
        </p:spPr>
      </p:sp>
      <p:pic>
        <p:nvPicPr>
          <p:cNvPr id="19" name="Image 2" descr="/home/claude/water_ppt/icon_home_white.png"/>
          <p:cNvPicPr>
            <a:picLocks noChangeAspect="1"/>
          </p:cNvPicPr>
          <p:nvPr/>
        </p:nvPicPr>
        <p:blipFill>
          <a:blip r:embed="rId4"/>
          <a:stretch>
            <a:fillRect/>
          </a:stretch>
        </p:blipFill>
        <p:spPr>
          <a:xfrm>
            <a:off x="7557516" y="2738628"/>
            <a:ext cx="338328" cy="338328"/>
          </a:xfrm>
          <a:prstGeom prst="rect">
            <a:avLst/>
          </a:prstGeom>
        </p:spPr>
      </p:pic>
      <p:sp>
        <p:nvSpPr>
          <p:cNvPr id="20" name="Text 11"/>
          <p:cNvSpPr/>
          <p:nvPr/>
        </p:nvSpPr>
        <p:spPr>
          <a:xfrm>
            <a:off x="8092440" y="2642616"/>
            <a:ext cx="3337560" cy="274320"/>
          </a:xfrm>
          <a:prstGeom prst="rect">
            <a:avLst/>
          </a:prstGeom>
          <a:noFill/>
        </p:spPr>
        <p:txBody>
          <a:bodyPr wrap="square" rtlCol="0" anchor="ctr"/>
          <a:lstStyle/>
          <a:p>
            <a:pPr marL="0" indent="0">
              <a:buNone/>
            </a:pPr>
            <a:r>
              <a:rPr lang="en-US" sz="1150" b="1" dirty="0">
                <a:solidFill>
                  <a:srgbClr val="0B3D5C"/>
                </a:solidFill>
                <a:latin typeface="Calibri" panose="020F0502020204030204" charset="0"/>
                <a:ea typeface="Calibri" panose="020F0502020204030204" pitchFamily="34" charset="-122"/>
                <a:cs typeface="Calibri" panose="020F0502020204030204" pitchFamily="34" charset="-120"/>
              </a:rPr>
              <a:t>Record Source &amp; Context</a:t>
            </a:r>
            <a:endParaRPr lang="en-US" sz="1150" dirty="0"/>
          </a:p>
        </p:txBody>
      </p:sp>
      <p:sp>
        <p:nvSpPr>
          <p:cNvPr id="21" name="Text 12"/>
          <p:cNvSpPr/>
          <p:nvPr/>
        </p:nvSpPr>
        <p:spPr>
          <a:xfrm>
            <a:off x="8092440" y="2898648"/>
            <a:ext cx="3337560" cy="502920"/>
          </a:xfrm>
          <a:prstGeom prst="rect">
            <a:avLst/>
          </a:prstGeom>
          <a:noFill/>
        </p:spPr>
        <p:txBody>
          <a:bodyPr wrap="square" rtlCol="0" anchor="ctr"/>
          <a:lstStyle/>
          <a:p>
            <a:pPr marL="0" indent="0">
              <a:lnSpc>
                <a:spcPct val="115000"/>
              </a:lnSpc>
              <a:buNone/>
            </a:pPr>
            <a:r>
              <a:rPr lang="en-US" sz="970" dirty="0">
                <a:solidFill>
                  <a:srgbClr val="6B7E86"/>
                </a:solidFill>
                <a:latin typeface="Calibri" panose="020F0502020204030204" charset="0"/>
                <a:ea typeface="Calibri" panose="020F0502020204030204" pitchFamily="34" charset="-122"/>
                <a:cs typeface="Calibri" panose="020F0502020204030204" pitchFamily="34" charset="-120"/>
              </a:rPr>
              <a:t>Water source, date, and location are logged for each sample.</a:t>
            </a:r>
            <a:endParaRPr lang="en-US" sz="970" dirty="0"/>
          </a:p>
        </p:txBody>
      </p:sp>
      <p:sp>
        <p:nvSpPr>
          <p:cNvPr id="22" name="Shape 13"/>
          <p:cNvSpPr/>
          <p:nvPr/>
        </p:nvSpPr>
        <p:spPr>
          <a:xfrm>
            <a:off x="7498080" y="3529584"/>
            <a:ext cx="457200" cy="457200"/>
          </a:xfrm>
          <a:prstGeom prst="ellipse">
            <a:avLst/>
          </a:prstGeom>
          <a:solidFill>
            <a:srgbClr val="1C7293"/>
          </a:solidFill>
        </p:spPr>
      </p:sp>
      <p:pic>
        <p:nvPicPr>
          <p:cNvPr id="23" name="Image 3" descr="/home/claude/water_ppt/icon_vial_white.png"/>
          <p:cNvPicPr>
            <a:picLocks noChangeAspect="1"/>
          </p:cNvPicPr>
          <p:nvPr/>
        </p:nvPicPr>
        <p:blipFill>
          <a:blip r:embed="rId5"/>
          <a:stretch>
            <a:fillRect/>
          </a:stretch>
        </p:blipFill>
        <p:spPr>
          <a:xfrm>
            <a:off x="7557516" y="3589020"/>
            <a:ext cx="338328" cy="338328"/>
          </a:xfrm>
          <a:prstGeom prst="rect">
            <a:avLst/>
          </a:prstGeom>
        </p:spPr>
      </p:pic>
      <p:sp>
        <p:nvSpPr>
          <p:cNvPr id="24" name="Text 14"/>
          <p:cNvSpPr/>
          <p:nvPr/>
        </p:nvSpPr>
        <p:spPr>
          <a:xfrm>
            <a:off x="8092440" y="3493008"/>
            <a:ext cx="3337560" cy="274320"/>
          </a:xfrm>
          <a:prstGeom prst="rect">
            <a:avLst/>
          </a:prstGeom>
          <a:noFill/>
        </p:spPr>
        <p:txBody>
          <a:bodyPr wrap="square" rtlCol="0" anchor="ctr"/>
          <a:lstStyle/>
          <a:p>
            <a:pPr marL="0" indent="0">
              <a:buNone/>
            </a:pPr>
            <a:r>
              <a:rPr lang="en-US" sz="1150" b="1" dirty="0">
                <a:solidFill>
                  <a:srgbClr val="0B3D5C"/>
                </a:solidFill>
                <a:latin typeface="Calibri" panose="020F0502020204030204" charset="0"/>
                <a:ea typeface="Calibri" panose="020F0502020204030204" pitchFamily="34" charset="-122"/>
                <a:cs typeface="Calibri" panose="020F0502020204030204" pitchFamily="34" charset="-120"/>
              </a:rPr>
              <a:t>Measure Parameters</a:t>
            </a:r>
            <a:endParaRPr lang="en-US" sz="1150" dirty="0"/>
          </a:p>
        </p:txBody>
      </p:sp>
      <p:sp>
        <p:nvSpPr>
          <p:cNvPr id="25" name="Text 15"/>
          <p:cNvSpPr/>
          <p:nvPr/>
        </p:nvSpPr>
        <p:spPr>
          <a:xfrm>
            <a:off x="8092440" y="3749040"/>
            <a:ext cx="3337560" cy="502920"/>
          </a:xfrm>
          <a:prstGeom prst="rect">
            <a:avLst/>
          </a:prstGeom>
          <a:noFill/>
        </p:spPr>
        <p:txBody>
          <a:bodyPr wrap="square" rtlCol="0" anchor="ctr"/>
          <a:lstStyle/>
          <a:p>
            <a:pPr marL="0" indent="0">
              <a:lnSpc>
                <a:spcPct val="115000"/>
              </a:lnSpc>
              <a:buNone/>
            </a:pPr>
            <a:r>
              <a:rPr lang="en-US" sz="970" dirty="0">
                <a:solidFill>
                  <a:srgbClr val="6B7E86"/>
                </a:solidFill>
                <a:latin typeface="Calibri" panose="020F0502020204030204" charset="0"/>
                <a:ea typeface="Calibri" panose="020F0502020204030204" pitchFamily="34" charset="-122"/>
                <a:cs typeface="Calibri" panose="020F0502020204030204" pitchFamily="34" charset="-120"/>
              </a:rPr>
              <a:t>Selected physical, chemical, or microbiological parameters are recorded.</a:t>
            </a:r>
            <a:endParaRPr lang="en-US" sz="970" dirty="0"/>
          </a:p>
        </p:txBody>
      </p:sp>
      <p:sp>
        <p:nvSpPr>
          <p:cNvPr id="26" name="Shape 16"/>
          <p:cNvSpPr/>
          <p:nvPr/>
        </p:nvSpPr>
        <p:spPr>
          <a:xfrm>
            <a:off x="7498080" y="4379976"/>
            <a:ext cx="457200" cy="457200"/>
          </a:xfrm>
          <a:prstGeom prst="ellipse">
            <a:avLst/>
          </a:prstGeom>
          <a:solidFill>
            <a:srgbClr val="1C7293"/>
          </a:solidFill>
        </p:spPr>
      </p:sp>
      <p:pic>
        <p:nvPicPr>
          <p:cNvPr id="27" name="Image 4" descr="/home/claude/water_ppt/icon_database_white.png"/>
          <p:cNvPicPr>
            <a:picLocks noChangeAspect="1"/>
          </p:cNvPicPr>
          <p:nvPr/>
        </p:nvPicPr>
        <p:blipFill>
          <a:blip r:embed="rId6"/>
          <a:stretch>
            <a:fillRect/>
          </a:stretch>
        </p:blipFill>
        <p:spPr>
          <a:xfrm>
            <a:off x="7557516" y="4439412"/>
            <a:ext cx="338328" cy="338328"/>
          </a:xfrm>
          <a:prstGeom prst="rect">
            <a:avLst/>
          </a:prstGeom>
        </p:spPr>
      </p:pic>
      <p:sp>
        <p:nvSpPr>
          <p:cNvPr id="28" name="Text 17"/>
          <p:cNvSpPr/>
          <p:nvPr/>
        </p:nvSpPr>
        <p:spPr>
          <a:xfrm>
            <a:off x="8092440" y="4343400"/>
            <a:ext cx="3337560" cy="274320"/>
          </a:xfrm>
          <a:prstGeom prst="rect">
            <a:avLst/>
          </a:prstGeom>
          <a:noFill/>
        </p:spPr>
        <p:txBody>
          <a:bodyPr wrap="square" rtlCol="0" anchor="ctr"/>
          <a:lstStyle/>
          <a:p>
            <a:pPr marL="0" indent="0">
              <a:buNone/>
            </a:pPr>
            <a:r>
              <a:rPr lang="en-US" sz="1150" b="1" dirty="0">
                <a:solidFill>
                  <a:srgbClr val="0B3D5C"/>
                </a:solidFill>
                <a:latin typeface="Calibri" panose="020F0502020204030204" charset="0"/>
                <a:ea typeface="Calibri" panose="020F0502020204030204" pitchFamily="34" charset="-122"/>
                <a:cs typeface="Calibri" panose="020F0502020204030204" pitchFamily="34" charset="-120"/>
              </a:rPr>
              <a:t>Store as CSV / Excel</a:t>
            </a:r>
            <a:endParaRPr lang="en-US" sz="1150" dirty="0"/>
          </a:p>
        </p:txBody>
      </p:sp>
      <p:sp>
        <p:nvSpPr>
          <p:cNvPr id="29" name="Text 18"/>
          <p:cNvSpPr/>
          <p:nvPr/>
        </p:nvSpPr>
        <p:spPr>
          <a:xfrm>
            <a:off x="8092440" y="4599432"/>
            <a:ext cx="3337560" cy="502920"/>
          </a:xfrm>
          <a:prstGeom prst="rect">
            <a:avLst/>
          </a:prstGeom>
          <a:noFill/>
        </p:spPr>
        <p:txBody>
          <a:bodyPr wrap="square" rtlCol="0" anchor="ctr"/>
          <a:lstStyle/>
          <a:p>
            <a:pPr marL="0" indent="0">
              <a:lnSpc>
                <a:spcPct val="115000"/>
              </a:lnSpc>
              <a:buNone/>
            </a:pPr>
            <a:r>
              <a:rPr lang="en-US" sz="970" dirty="0">
                <a:solidFill>
                  <a:srgbClr val="6B7E86"/>
                </a:solidFill>
                <a:latin typeface="Calibri" panose="020F0502020204030204" charset="0"/>
                <a:ea typeface="Calibri" panose="020F0502020204030204" pitchFamily="34" charset="-122"/>
                <a:cs typeface="Calibri" panose="020F0502020204030204" pitchFamily="34" charset="-120"/>
              </a:rPr>
              <a:t>Readings are compiled into a single structured spreadsheet.</a:t>
            </a:r>
            <a:endParaRPr lang="en-US" sz="970" dirty="0"/>
          </a:p>
        </p:txBody>
      </p:sp>
      <p:sp>
        <p:nvSpPr>
          <p:cNvPr id="30" name="Shape 19"/>
          <p:cNvSpPr/>
          <p:nvPr/>
        </p:nvSpPr>
        <p:spPr>
          <a:xfrm>
            <a:off x="7498080" y="5230368"/>
            <a:ext cx="457200" cy="457200"/>
          </a:xfrm>
          <a:prstGeom prst="ellipse">
            <a:avLst/>
          </a:prstGeom>
          <a:solidFill>
            <a:srgbClr val="1C7293"/>
          </a:solidFill>
        </p:spPr>
      </p:sp>
      <p:pic>
        <p:nvPicPr>
          <p:cNvPr id="31" name="Image 5" descr="/home/claude/water_ppt/icon_broom_white.png"/>
          <p:cNvPicPr>
            <a:picLocks noChangeAspect="1"/>
          </p:cNvPicPr>
          <p:nvPr/>
        </p:nvPicPr>
        <p:blipFill>
          <a:blip r:embed="rId7"/>
          <a:stretch>
            <a:fillRect/>
          </a:stretch>
        </p:blipFill>
        <p:spPr>
          <a:xfrm>
            <a:off x="7557516" y="5289804"/>
            <a:ext cx="338328" cy="338328"/>
          </a:xfrm>
          <a:prstGeom prst="rect">
            <a:avLst/>
          </a:prstGeom>
        </p:spPr>
      </p:pic>
      <p:sp>
        <p:nvSpPr>
          <p:cNvPr id="32" name="Text 20"/>
          <p:cNvSpPr/>
          <p:nvPr/>
        </p:nvSpPr>
        <p:spPr>
          <a:xfrm>
            <a:off x="8092440" y="5193792"/>
            <a:ext cx="3337560" cy="274320"/>
          </a:xfrm>
          <a:prstGeom prst="rect">
            <a:avLst/>
          </a:prstGeom>
          <a:noFill/>
        </p:spPr>
        <p:txBody>
          <a:bodyPr wrap="square" rtlCol="0" anchor="ctr"/>
          <a:lstStyle/>
          <a:p>
            <a:pPr marL="0" indent="0">
              <a:buNone/>
            </a:pPr>
            <a:r>
              <a:rPr lang="en-US" sz="1150" b="1" dirty="0">
                <a:solidFill>
                  <a:srgbClr val="0B3D5C"/>
                </a:solidFill>
                <a:latin typeface="Calibri" panose="020F0502020204030204" charset="0"/>
                <a:ea typeface="Calibri" panose="020F0502020204030204" pitchFamily="34" charset="-122"/>
                <a:cs typeface="Calibri" panose="020F0502020204030204" pitchFamily="34" charset="-120"/>
              </a:rPr>
              <a:t>Clean in R</a:t>
            </a:r>
            <a:endParaRPr lang="en-US" sz="1150" dirty="0"/>
          </a:p>
        </p:txBody>
      </p:sp>
      <p:sp>
        <p:nvSpPr>
          <p:cNvPr id="33" name="Text 21"/>
          <p:cNvSpPr/>
          <p:nvPr/>
        </p:nvSpPr>
        <p:spPr>
          <a:xfrm>
            <a:off x="8092440" y="5449824"/>
            <a:ext cx="3337560" cy="502920"/>
          </a:xfrm>
          <a:prstGeom prst="rect">
            <a:avLst/>
          </a:prstGeom>
          <a:noFill/>
        </p:spPr>
        <p:txBody>
          <a:bodyPr wrap="square" rtlCol="0" anchor="ctr"/>
          <a:lstStyle/>
          <a:p>
            <a:pPr marL="0" indent="0">
              <a:lnSpc>
                <a:spcPct val="115000"/>
              </a:lnSpc>
              <a:buNone/>
            </a:pPr>
            <a:r>
              <a:rPr lang="en-US" sz="970" dirty="0">
                <a:solidFill>
                  <a:srgbClr val="6B7E86"/>
                </a:solidFill>
                <a:latin typeface="Calibri" panose="020F0502020204030204" charset="0"/>
                <a:ea typeface="Calibri" panose="020F0502020204030204" pitchFamily="34" charset="-122"/>
                <a:cs typeface="Calibri" panose="020F0502020204030204" pitchFamily="34" charset="-120"/>
              </a:rPr>
              <a:t>The dataset is imported and cleaned before any analysis begins.</a:t>
            </a:r>
            <a:endParaRPr lang="en-US" sz="970" dirty="0"/>
          </a:p>
        </p:txBody>
      </p:sp>
      <p:sp>
        <p:nvSpPr>
          <p:cNvPr id="35" name="Text 23"/>
          <p:cNvSpPr/>
          <p:nvPr/>
        </p:nvSpPr>
        <p:spPr>
          <a:xfrm>
            <a:off x="11274552" y="6510528"/>
            <a:ext cx="457200" cy="274320"/>
          </a:xfrm>
          <a:prstGeom prst="rect">
            <a:avLst/>
          </a:prstGeom>
          <a:noFill/>
        </p:spPr>
        <p:txBody>
          <a:bodyPr wrap="square" rtlCol="0" anchor="ctr"/>
          <a:lstStyle/>
          <a:p>
            <a:pPr marL="0" indent="0" algn="r">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1</a:t>
            </a:r>
            <a:endParaRPr lang="en-US" sz="900" dirty="0"/>
          </a:p>
        </p:txBody>
      </p:sp>
      <p:pic>
        <p:nvPicPr>
          <p:cNvPr id="64" name="Picture 63"/>
          <p:cNvPicPr/>
          <p:nvPr/>
        </p:nvPicPr>
        <p:blipFill>
          <a:blip r:embed="rId8"/>
          <a:stretch>
            <a:fillRect/>
          </a:stretch>
        </p:blipFill>
        <p:spPr>
          <a:xfrm>
            <a:off x="85725" y="95885"/>
            <a:ext cx="1649095" cy="1151255"/>
          </a:xfrm>
          <a:prstGeom prst="rect">
            <a:avLst/>
          </a:prstGeom>
        </p:spPr>
      </p:pic>
      <p:pic>
        <p:nvPicPr>
          <p:cNvPr id="65" name="Picture 64"/>
          <p:cNvPicPr/>
          <p:nvPr/>
        </p:nvPicPr>
        <p:blipFill>
          <a:blip r:embed="rId9"/>
          <a:stretch>
            <a:fillRect/>
          </a:stretch>
        </p:blipFill>
        <p:spPr>
          <a:xfrm>
            <a:off x="10632440" y="122555"/>
            <a:ext cx="1262380" cy="1124585"/>
          </a:xfrm>
          <a:prstGeom prst="rect">
            <a:avLst/>
          </a:prstGeom>
        </p:spPr>
      </p:pic>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 name="Picture 63"/>
          <p:cNvPicPr/>
          <p:nvPr/>
        </p:nvPicPr>
        <p:blipFill>
          <a:blip r:embed="rId1"/>
          <a:stretch>
            <a:fillRect/>
          </a:stretch>
        </p:blipFill>
        <p:spPr>
          <a:xfrm>
            <a:off x="85725" y="95885"/>
            <a:ext cx="1649095" cy="1151255"/>
          </a:xfrm>
          <a:prstGeom prst="rect">
            <a:avLst/>
          </a:prstGeom>
        </p:spPr>
      </p:pic>
      <p:pic>
        <p:nvPicPr>
          <p:cNvPr id="65" name="Picture 64"/>
          <p:cNvPicPr/>
          <p:nvPr/>
        </p:nvPicPr>
        <p:blipFill>
          <a:blip r:embed="rId2"/>
          <a:stretch>
            <a:fillRect/>
          </a:stretch>
        </p:blipFill>
        <p:spPr>
          <a:xfrm>
            <a:off x="10632440" y="122555"/>
            <a:ext cx="1262380" cy="1124585"/>
          </a:xfrm>
          <a:prstGeom prst="rect">
            <a:avLst/>
          </a:prstGeom>
        </p:spPr>
      </p:pic>
      <p:graphicFrame>
        <p:nvGraphicFramePr>
          <p:cNvPr id="3" name="Table 0"/>
          <p:cNvGraphicFramePr>
            <a:graphicFrameLocks noGrp="1"/>
          </p:cNvGraphicFramePr>
          <p:nvPr/>
        </p:nvGraphicFramePr>
        <p:xfrm>
          <a:off x="432435" y="3517265"/>
          <a:ext cx="11395710" cy="3060700"/>
        </p:xfrm>
        <a:graphic>
          <a:graphicData uri="http://schemas.openxmlformats.org/drawingml/2006/table">
            <a:tbl>
              <a:tblPr/>
              <a:tblGrid>
                <a:gridCol w="1093470"/>
                <a:gridCol w="911225"/>
                <a:gridCol w="911225"/>
                <a:gridCol w="1125855"/>
                <a:gridCol w="664845"/>
                <a:gridCol w="911225"/>
                <a:gridCol w="750570"/>
                <a:gridCol w="750570"/>
                <a:gridCol w="910590"/>
                <a:gridCol w="836295"/>
                <a:gridCol w="772160"/>
                <a:gridCol w="750570"/>
                <a:gridCol w="1007110"/>
              </a:tblGrid>
              <a:tr h="612140">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Sample_ID</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Date</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Location</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Water_Source</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pH</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Turbidity</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TDS</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EC</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Hardness</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Chloride</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Fluoride</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Nitrate</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900" b="1" dirty="0">
                          <a:solidFill>
                            <a:srgbClr val="FFFFFF"/>
                          </a:solidFill>
                          <a:latin typeface="Calibri" panose="020F0502020204030204" charset="0"/>
                          <a:ea typeface="Calibri" panose="020F0502020204030204" pitchFamily="34" charset="-122"/>
                          <a:cs typeface="Calibri" panose="020F0502020204030204" pitchFamily="34" charset="-120"/>
                        </a:rPr>
                        <a:t>Coliform</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r>
              <a:tr h="612140">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WS-001</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01-Jun-26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Zone A</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Borewell</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7.2</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1.8</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410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620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180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45</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12</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Absent</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r>
              <a:tr h="612140">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WS-002</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01-Jun-26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Zone B</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Municipal</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6.9</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0.9</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290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480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140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30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0.4</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8</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Absent</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r>
              <a:tr h="612140">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WS-003</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02-Jun-26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Zone A</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Storage Tank</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7.6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2.4</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520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710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210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58</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0.9</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18</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Present</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r>
              <a:tr h="612140">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WS-004</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02-Jun-26</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Zone C</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Borewell</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7.0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1.2</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380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560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165</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40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0.5</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10</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900" dirty="0">
                          <a:solidFill>
                            <a:srgbClr val="2B3A42"/>
                          </a:solidFill>
                          <a:latin typeface="Calibri" panose="020F0502020204030204" charset="0"/>
                          <a:ea typeface="Calibri" panose="020F0502020204030204" pitchFamily="34" charset="-122"/>
                          <a:cs typeface="Calibri" panose="020F0502020204030204" pitchFamily="34" charset="-120"/>
                        </a:rPr>
                        <a:t>Absent</a:t>
                      </a:r>
                      <a:endParaRPr lang="en-US" sz="9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r>
            </a:tbl>
          </a:graphicData>
        </a:graphic>
      </p:graphicFrame>
      <p:sp>
        <p:nvSpPr>
          <p:cNvPr id="27" name="Text Box 26"/>
          <p:cNvSpPr txBox="1"/>
          <p:nvPr/>
        </p:nvSpPr>
        <p:spPr>
          <a:xfrm>
            <a:off x="433070" y="1378585"/>
            <a:ext cx="11395075" cy="1565910"/>
          </a:xfrm>
          <a:prstGeom prst="rect">
            <a:avLst/>
          </a:prstGeom>
          <a:noFill/>
        </p:spPr>
        <p:txBody>
          <a:bodyPr wrap="square" rtlCol="0" anchor="t">
            <a:spAutoFit/>
          </a:bodyPr>
          <a:p>
            <a:pPr marL="285750" indent="-285750" algn="l">
              <a:lnSpc>
                <a:spcPct val="128000"/>
              </a:lnSpc>
              <a:buFont typeface="Wingdings" panose="05000000000000000000" charset="0"/>
              <a:buChar char="Ø"/>
            </a:pPr>
            <a:r>
              <a:rPr lang="en-US" sz="1500" dirty="0">
                <a:solidFill>
                  <a:srgbClr val="2B3A42"/>
                </a:solidFill>
                <a:latin typeface="Times New Roman" panose="02020603050405020304" charset="0"/>
                <a:ea typeface="Calibri" panose="020F0502020204030204" pitchFamily="34" charset="-122"/>
                <a:cs typeface="Times New Roman" panose="02020603050405020304" charset="0"/>
                <a:sym typeface="+mn-ea"/>
              </a:rPr>
              <a:t>The prepared dataset is organized with one row per sample and one column per attribute, including Sample_ID, Date, Location, Water_Source, and each measured parameter such as pH, Turbidity, TDS, Electrical Conductivity, Total Hardness, Chloride, Fluoride, Nitrate, and Total Coliform. </a:t>
            </a:r>
            <a:endParaRPr lang="en-US" sz="1500"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a:p>
            <a:pPr marL="285750" indent="-285750" algn="l">
              <a:lnSpc>
                <a:spcPct val="128000"/>
              </a:lnSpc>
              <a:buFont typeface="Wingdings" panose="05000000000000000000" charset="0"/>
              <a:buChar char="Ø"/>
            </a:pPr>
            <a:r>
              <a:rPr lang="en-US" sz="1500" dirty="0">
                <a:solidFill>
                  <a:srgbClr val="2B3A42"/>
                </a:solidFill>
                <a:latin typeface="Times New Roman" panose="02020603050405020304" charset="0"/>
                <a:ea typeface="Calibri" panose="020F0502020204030204" pitchFamily="34" charset="-122"/>
                <a:cs typeface="Times New Roman" panose="02020603050405020304" charset="0"/>
                <a:sym typeface="+mn-ea"/>
              </a:rPr>
              <a:t>This tabular structure allows R to treat each parameter as its own variable, which is essential for the statistical functions used later in Module 2. The final choice of parameters depends on what data is actually available and the scope agreed with the project supervisor.</a:t>
            </a:r>
            <a:endParaRPr lang="en-US" sz="1500"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p:txBody>
      </p:sp>
      <p:sp>
        <p:nvSpPr>
          <p:cNvPr id="28" name="Text Box 27"/>
          <p:cNvSpPr txBox="1"/>
          <p:nvPr/>
        </p:nvSpPr>
        <p:spPr>
          <a:xfrm>
            <a:off x="3048000" y="286385"/>
            <a:ext cx="6096000" cy="460375"/>
          </a:xfrm>
          <a:prstGeom prst="rect">
            <a:avLst/>
          </a:prstGeom>
          <a:noFill/>
        </p:spPr>
        <p:txBody>
          <a:bodyPr wrap="square" rtlCol="0" anchor="t">
            <a:spAutoFit/>
          </a:bodyPr>
          <a:p>
            <a:pPr marL="0" indent="0">
              <a:buNone/>
            </a:pPr>
            <a:r>
              <a:rPr lang="en-US" sz="24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rPr>
              <a:t>Dataset Structure and Cleaning in R</a:t>
            </a:r>
            <a:endParaRPr lang="en-US" sz="24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92345" y="179070"/>
            <a:ext cx="2110105" cy="516890"/>
          </a:xfrm>
          <a:prstGeom prst="rect">
            <a:avLst/>
          </a:prstGeom>
          <a:noFill/>
        </p:spPr>
        <p:txBody>
          <a:bodyPr wrap="square" rtlCol="0">
            <a:noAutofit/>
          </a:bodyPr>
          <a:p>
            <a:r>
              <a:rPr lang="en-US" sz="2500" b="1">
                <a:solidFill>
                  <a:srgbClr val="FF0000"/>
                </a:solidFill>
                <a:latin typeface="Times New Roman" panose="02020603050405020304" charset="0"/>
                <a:cs typeface="Times New Roman" panose="02020603050405020304" charset="0"/>
              </a:rPr>
              <a:t>MODULE 2</a:t>
            </a:r>
            <a:endParaRPr lang="en-US" sz="2500" b="1">
              <a:solidFill>
                <a:srgbClr val="FF0000"/>
              </a:solidFill>
              <a:latin typeface="Times New Roman" panose="02020603050405020304" charset="0"/>
              <a:cs typeface="Times New Roman" panose="02020603050405020304" charset="0"/>
            </a:endParaRPr>
          </a:p>
        </p:txBody>
      </p:sp>
      <p:sp>
        <p:nvSpPr>
          <p:cNvPr id="3" name="Text Box 2"/>
          <p:cNvSpPr txBox="1"/>
          <p:nvPr/>
        </p:nvSpPr>
        <p:spPr>
          <a:xfrm>
            <a:off x="2799080" y="586105"/>
            <a:ext cx="6096000" cy="429895"/>
          </a:xfrm>
          <a:prstGeom prst="rect">
            <a:avLst/>
          </a:prstGeom>
          <a:noFill/>
        </p:spPr>
        <p:txBody>
          <a:bodyPr wrap="square" rtlCol="0" anchor="t">
            <a:spAutoFit/>
          </a:bodyPr>
          <a:p>
            <a:pPr marL="0" indent="0" algn="l">
              <a:buNone/>
            </a:pPr>
            <a:r>
              <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rPr>
              <a:t>Statistical Analysis and Data Visualization</a:t>
            </a:r>
            <a:endPar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endParaRPr>
          </a:p>
        </p:txBody>
      </p:sp>
      <p:pic>
        <p:nvPicPr>
          <p:cNvPr id="64" name="Picture 63"/>
          <p:cNvPicPr/>
          <p:nvPr/>
        </p:nvPicPr>
        <p:blipFill>
          <a:blip r:embed="rId2"/>
          <a:stretch>
            <a:fillRect/>
          </a:stretch>
        </p:blipFill>
        <p:spPr>
          <a:xfrm>
            <a:off x="85725" y="95885"/>
            <a:ext cx="1649095" cy="1151255"/>
          </a:xfrm>
          <a:prstGeom prst="rect">
            <a:avLst/>
          </a:prstGeom>
        </p:spPr>
      </p:pic>
      <p:pic>
        <p:nvPicPr>
          <p:cNvPr id="65" name="Picture 64"/>
          <p:cNvPicPr/>
          <p:nvPr/>
        </p:nvPicPr>
        <p:blipFill>
          <a:blip r:embed="rId3"/>
          <a:stretch>
            <a:fillRect/>
          </a:stretch>
        </p:blipFill>
        <p:spPr>
          <a:xfrm>
            <a:off x="10632440" y="122555"/>
            <a:ext cx="1262380" cy="1124585"/>
          </a:xfrm>
          <a:prstGeom prst="rect">
            <a:avLst/>
          </a:prstGeom>
        </p:spPr>
      </p:pic>
      <p:sp>
        <p:nvSpPr>
          <p:cNvPr id="27" name="Text Box 26"/>
          <p:cNvSpPr txBox="1"/>
          <p:nvPr/>
        </p:nvSpPr>
        <p:spPr>
          <a:xfrm>
            <a:off x="294640" y="1426845"/>
            <a:ext cx="6421755" cy="5040630"/>
          </a:xfrm>
          <a:prstGeom prst="rect">
            <a:avLst/>
          </a:prstGeom>
          <a:noFill/>
        </p:spPr>
        <p:txBody>
          <a:bodyPr wrap="square" rtlCol="0" anchor="t">
            <a:noAutofit/>
          </a:bodyPr>
          <a:p>
            <a:pPr marL="285750" indent="-285750" algn="l">
              <a:lnSpc>
                <a:spcPct val="150000"/>
              </a:lnSpc>
              <a:buFont typeface="Wingdings" panose="05000000000000000000" charset="0"/>
              <a:buChar char="Ø"/>
            </a:pPr>
            <a:r>
              <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rPr>
              <a:t>Numbers alone rarely tell the full story, so Module 2 also converts statistical results into visual form using R. A histogram reveals how a single parameter, such as pH, is distributed across all samples. Box plots compare the spread and variation of a parameter across different groups, such as water sources, in a single view.</a:t>
            </a:r>
            <a:endPar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a:p>
            <a:pPr marL="285750" indent="-285750" algn="l">
              <a:lnSpc>
                <a:spcPct val="150000"/>
              </a:lnSpc>
              <a:buFont typeface="Wingdings" panose="05000000000000000000" charset="0"/>
              <a:buChar char="Ø"/>
            </a:pPr>
            <a:r>
              <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rPr>
              <a:t> Bar charts are used to compare category-level values, scatter plots reveal the relationship between two numeric parameters, and correlation heatmaps summarize relationships across many parameters simultaneously.</a:t>
            </a:r>
            <a:endPar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a:p>
            <a:pPr marL="285750" indent="-285750" algn="l">
              <a:lnSpc>
                <a:spcPct val="150000"/>
              </a:lnSpc>
              <a:buFont typeface="Wingdings" panose="05000000000000000000" charset="0"/>
              <a:buChar char="Ø"/>
            </a:pPr>
            <a:r>
              <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rPr>
              <a:t> Together, these visualizations make patterns, outliers, and group differences far easier to communicate than tables of numbers alone.</a:t>
            </a:r>
            <a:endParaRPr lang="en-US" dirty="0">
              <a:solidFill>
                <a:srgbClr val="2B3A42"/>
              </a:solidFill>
              <a:latin typeface="Times New Roman" panose="02020603050405020304" charset="0"/>
              <a:ea typeface="Calibri" panose="020F0502020204030204" pitchFamily="34" charset="-122"/>
              <a:cs typeface="Times New Roman" panose="02020603050405020304" charset="0"/>
              <a:sym typeface="+mn-ea"/>
            </a:endParaRPr>
          </a:p>
        </p:txBody>
      </p:sp>
      <p:graphicFrame>
        <p:nvGraphicFramePr>
          <p:cNvPr id="33" name="Chart 0"/>
          <p:cNvGraphicFramePr/>
          <p:nvPr/>
        </p:nvGraphicFramePr>
        <p:xfrm>
          <a:off x="6965950" y="1581150"/>
          <a:ext cx="5133975" cy="4655820"/>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4" name="Picture 63"/>
          <p:cNvPicPr/>
          <p:nvPr/>
        </p:nvPicPr>
        <p:blipFill>
          <a:blip r:embed="rId1"/>
          <a:stretch>
            <a:fillRect/>
          </a:stretch>
        </p:blipFill>
        <p:spPr>
          <a:xfrm>
            <a:off x="85725" y="95885"/>
            <a:ext cx="1649095" cy="1151255"/>
          </a:xfrm>
          <a:prstGeom prst="rect">
            <a:avLst/>
          </a:prstGeom>
        </p:spPr>
      </p:pic>
      <p:pic>
        <p:nvPicPr>
          <p:cNvPr id="65" name="Picture 64"/>
          <p:cNvPicPr/>
          <p:nvPr/>
        </p:nvPicPr>
        <p:blipFill>
          <a:blip r:embed="rId2"/>
          <a:stretch>
            <a:fillRect/>
          </a:stretch>
        </p:blipFill>
        <p:spPr>
          <a:xfrm>
            <a:off x="10632440" y="122555"/>
            <a:ext cx="1262380" cy="1124585"/>
          </a:xfrm>
          <a:prstGeom prst="rect">
            <a:avLst/>
          </a:prstGeom>
        </p:spPr>
      </p:pic>
      <p:sp>
        <p:nvSpPr>
          <p:cNvPr id="2" name="Text Box 1"/>
          <p:cNvSpPr txBox="1"/>
          <p:nvPr/>
        </p:nvSpPr>
        <p:spPr>
          <a:xfrm>
            <a:off x="4669790" y="217805"/>
            <a:ext cx="1858010" cy="517525"/>
          </a:xfrm>
          <a:prstGeom prst="rect">
            <a:avLst/>
          </a:prstGeom>
          <a:noFill/>
        </p:spPr>
        <p:txBody>
          <a:bodyPr wrap="square" rtlCol="0">
            <a:noAutofit/>
          </a:bodyPr>
          <a:p>
            <a:r>
              <a:rPr lang="en-US" sz="2500" b="1">
                <a:solidFill>
                  <a:srgbClr val="FF0000"/>
                </a:solidFill>
                <a:latin typeface="Times New Roman" panose="02020603050405020304" charset="0"/>
                <a:cs typeface="Times New Roman" panose="02020603050405020304" charset="0"/>
              </a:rPr>
              <a:t>MODULE 3</a:t>
            </a:r>
            <a:endParaRPr lang="en-US" sz="2500" b="1">
              <a:solidFill>
                <a:srgbClr val="FF0000"/>
              </a:solidFill>
              <a:latin typeface="Times New Roman" panose="02020603050405020304" charset="0"/>
              <a:cs typeface="Times New Roman" panose="02020603050405020304" charset="0"/>
            </a:endParaRPr>
          </a:p>
        </p:txBody>
      </p:sp>
      <p:sp>
        <p:nvSpPr>
          <p:cNvPr id="3" name="Text Box 2"/>
          <p:cNvSpPr txBox="1"/>
          <p:nvPr/>
        </p:nvSpPr>
        <p:spPr>
          <a:xfrm>
            <a:off x="2741930" y="670560"/>
            <a:ext cx="6096000" cy="429895"/>
          </a:xfrm>
          <a:prstGeom prst="rect">
            <a:avLst/>
          </a:prstGeom>
          <a:noFill/>
        </p:spPr>
        <p:txBody>
          <a:bodyPr wrap="square" rtlCol="0" anchor="t">
            <a:spAutoFit/>
          </a:bodyPr>
          <a:p>
            <a:pPr marL="0" indent="0" algn="l">
              <a:buNone/>
            </a:pPr>
            <a:r>
              <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rPr>
              <a:t>Water Quality Assessment and Reporting</a:t>
            </a:r>
            <a:endParaRPr lang="en-US" sz="2200" b="1" dirty="0">
              <a:solidFill>
                <a:srgbClr val="0B3D5C"/>
              </a:solidFill>
              <a:latin typeface="Cambria" panose="02040503050406030204" pitchFamily="34" charset="0"/>
              <a:ea typeface="Cambria" panose="02040503050406030204" pitchFamily="34" charset="-122"/>
              <a:cs typeface="Cambria" panose="02040503050406030204" pitchFamily="34" charset="-120"/>
              <a:sym typeface="+mn-ea"/>
            </a:endParaRPr>
          </a:p>
        </p:txBody>
      </p:sp>
      <p:graphicFrame>
        <p:nvGraphicFramePr>
          <p:cNvPr id="32" name="Table 0"/>
          <p:cNvGraphicFramePr>
            <a:graphicFrameLocks noGrp="1"/>
          </p:cNvGraphicFramePr>
          <p:nvPr/>
        </p:nvGraphicFramePr>
        <p:xfrm>
          <a:off x="548640" y="1463040"/>
          <a:ext cx="11091672" cy="2468880"/>
        </p:xfrm>
        <a:graphic>
          <a:graphicData uri="http://schemas.openxmlformats.org/drawingml/2006/table">
            <a:tbl>
              <a:tblPr/>
              <a:tblGrid>
                <a:gridCol w="3017520"/>
                <a:gridCol w="2743200"/>
                <a:gridCol w="2743200"/>
                <a:gridCol w="2587752"/>
              </a:tblGrid>
              <a:tr h="411480">
                <a:tc>
                  <a:txBody>
                    <a:bodyPr/>
                    <a:lstStyle/>
                    <a:p>
                      <a:pPr marL="0" indent="0" algn="ctr">
                        <a:buNone/>
                      </a:pPr>
                      <a:r>
                        <a:rPr lang="en-US" sz="1200" b="1" dirty="0">
                          <a:solidFill>
                            <a:srgbClr val="FFFFFF"/>
                          </a:solidFill>
                          <a:latin typeface="Calibri" panose="020F0502020204030204" charset="0"/>
                          <a:ea typeface="Calibri" panose="020F0502020204030204" pitchFamily="34" charset="-122"/>
                          <a:cs typeface="Calibri" panose="020F0502020204030204" pitchFamily="34" charset="-120"/>
                        </a:rPr>
                        <a:t>Parameter</a:t>
                      </a:r>
                      <a:endParaRPr lang="en-US" sz="12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1200" b="1" dirty="0">
                          <a:solidFill>
                            <a:srgbClr val="FFFFFF"/>
                          </a:solidFill>
                          <a:latin typeface="Calibri" panose="020F0502020204030204" charset="0"/>
                          <a:ea typeface="Calibri" panose="020F0502020204030204" pitchFamily="34" charset="-122"/>
                          <a:cs typeface="Calibri" panose="020F0502020204030204" pitchFamily="34" charset="-120"/>
                        </a:rPr>
                        <a:t>Measured Value</a:t>
                      </a:r>
                      <a:endParaRPr lang="en-US" sz="12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1200" b="1" dirty="0">
                          <a:solidFill>
                            <a:srgbClr val="FFFFFF"/>
                          </a:solidFill>
                          <a:latin typeface="Calibri" panose="020F0502020204030204" charset="0"/>
                          <a:ea typeface="Calibri" panose="020F0502020204030204" pitchFamily="34" charset="-122"/>
                          <a:cs typeface="Calibri" panose="020F0502020204030204" pitchFamily="34" charset="-120"/>
                        </a:rPr>
                        <a:t>Selected Criterion</a:t>
                      </a:r>
                      <a:endParaRPr lang="en-US" sz="12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c>
                  <a:txBody>
                    <a:bodyPr/>
                    <a:lstStyle/>
                    <a:p>
                      <a:pPr marL="0" indent="0" algn="ctr">
                        <a:buNone/>
                      </a:pPr>
                      <a:r>
                        <a:rPr lang="en-US" sz="1200" b="1" dirty="0">
                          <a:solidFill>
                            <a:srgbClr val="FFFFFF"/>
                          </a:solidFill>
                          <a:latin typeface="Calibri" panose="020F0502020204030204" charset="0"/>
                          <a:ea typeface="Calibri" panose="020F0502020204030204" pitchFamily="34" charset="-122"/>
                          <a:cs typeface="Calibri" panose="020F0502020204030204" pitchFamily="34" charset="-120"/>
                        </a:rPr>
                        <a:t>Status</a:t>
                      </a:r>
                      <a:endParaRPr lang="en-US" sz="120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B3D5C"/>
                    </a:solidFill>
                  </a:tcPr>
                </a:tc>
              </a:tr>
              <a:tr h="411480">
                <a:tc>
                  <a:txBody>
                    <a:bodyPr/>
                    <a:lstStyle/>
                    <a:p>
                      <a:pPr marL="0" indent="0" algn="ctr">
                        <a:buNone/>
                      </a:pPr>
                      <a:r>
                        <a:rPr lang="en-US" sz="1150" b="1" dirty="0">
                          <a:solidFill>
                            <a:srgbClr val="2B3A42"/>
                          </a:solidFill>
                          <a:latin typeface="Calibri" panose="020F0502020204030204" charset="0"/>
                          <a:ea typeface="Calibri" panose="020F0502020204030204" pitchFamily="34" charset="-122"/>
                          <a:cs typeface="Calibri" panose="020F0502020204030204" pitchFamily="34" charset="-120"/>
                        </a:rPr>
                        <a:t>pH</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7.20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6.5 – 8.5</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FFFFF"/>
                          </a:solidFill>
                          <a:latin typeface="Calibri" panose="020F0502020204030204" charset="0"/>
                          <a:ea typeface="Calibri" panose="020F0502020204030204" pitchFamily="34" charset="-122"/>
                          <a:cs typeface="Calibri" panose="020F0502020204030204" pitchFamily="34" charset="-120"/>
                        </a:rPr>
                        <a:t>Within Criterion</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2A97A"/>
                    </a:solidFill>
                  </a:tcPr>
                </a:tc>
              </a:tr>
              <a:tr h="411480">
                <a:tc>
                  <a:txBody>
                    <a:bodyPr/>
                    <a:lstStyle/>
                    <a:p>
                      <a:pPr marL="0" indent="0" algn="ctr">
                        <a:buNone/>
                      </a:pPr>
                      <a:r>
                        <a:rPr lang="en-US" sz="1150" b="1" dirty="0">
                          <a:solidFill>
                            <a:srgbClr val="2B3A42"/>
                          </a:solidFill>
                          <a:latin typeface="Calibri" panose="020F0502020204030204" charset="0"/>
                          <a:ea typeface="Calibri" panose="020F0502020204030204" pitchFamily="34" charset="-122"/>
                          <a:cs typeface="Calibri" panose="020F0502020204030204" pitchFamily="34" charset="-120"/>
                        </a:rPr>
                        <a:t>TDS (mg/L)</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410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 500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b="1" dirty="0">
                          <a:solidFill>
                            <a:srgbClr val="FFFFFF"/>
                          </a:solidFill>
                          <a:latin typeface="Calibri" panose="020F0502020204030204" charset="0"/>
                          <a:ea typeface="Calibri" panose="020F0502020204030204" pitchFamily="34" charset="-122"/>
                          <a:cs typeface="Calibri" panose="020F0502020204030204" pitchFamily="34" charset="-120"/>
                        </a:rPr>
                        <a:t>Within Criterion</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2A97A"/>
                    </a:solidFill>
                  </a:tcPr>
                </a:tc>
              </a:tr>
              <a:tr h="411480">
                <a:tc>
                  <a:txBody>
                    <a:bodyPr/>
                    <a:lstStyle/>
                    <a:p>
                      <a:pPr marL="0" indent="0" algn="ctr">
                        <a:buNone/>
                      </a:pPr>
                      <a:r>
                        <a:rPr lang="en-US" sz="1150" b="1" dirty="0">
                          <a:solidFill>
                            <a:srgbClr val="2B3A42"/>
                          </a:solidFill>
                          <a:latin typeface="Calibri" panose="020F0502020204030204" charset="0"/>
                          <a:ea typeface="Calibri" panose="020F0502020204030204" pitchFamily="34" charset="-122"/>
                          <a:cs typeface="Calibri" panose="020F0502020204030204" pitchFamily="34" charset="-120"/>
                        </a:rPr>
                        <a:t>Turbidity (NTU)</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3.10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 1.0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FFFFF"/>
                          </a:solidFill>
                          <a:latin typeface="Calibri" panose="020F0502020204030204" charset="0"/>
                          <a:ea typeface="Calibri" panose="020F0502020204030204" pitchFamily="34" charset="-122"/>
                          <a:cs typeface="Calibri" panose="020F0502020204030204" pitchFamily="34" charset="-120"/>
                        </a:rPr>
                        <a:t>Exceeds Criterion</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B23A2E"/>
                    </a:solidFill>
                  </a:tcPr>
                </a:tc>
              </a:tr>
              <a:tr h="411480">
                <a:tc>
                  <a:txBody>
                    <a:bodyPr/>
                    <a:lstStyle/>
                    <a:p>
                      <a:pPr marL="0" indent="0" algn="ctr">
                        <a:buNone/>
                      </a:pPr>
                      <a:r>
                        <a:rPr lang="en-US" sz="1150" b="1" dirty="0">
                          <a:solidFill>
                            <a:srgbClr val="2B3A42"/>
                          </a:solidFill>
                          <a:latin typeface="Calibri" panose="020F0502020204030204" charset="0"/>
                          <a:ea typeface="Calibri" panose="020F0502020204030204" pitchFamily="34" charset="-122"/>
                          <a:cs typeface="Calibri" panose="020F0502020204030204" pitchFamily="34" charset="-120"/>
                        </a:rPr>
                        <a:t>Hardness (mg/L)</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230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 200</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EAF5F8"/>
                    </a:solidFill>
                  </a:tcPr>
                </a:tc>
                <a:tc>
                  <a:txBody>
                    <a:bodyPr/>
                    <a:lstStyle/>
                    <a:p>
                      <a:pPr marL="0" indent="0" algn="ctr">
                        <a:buNone/>
                      </a:pPr>
                      <a:r>
                        <a:rPr lang="en-US" sz="1150" b="1" dirty="0">
                          <a:solidFill>
                            <a:srgbClr val="FFFFFF"/>
                          </a:solidFill>
                          <a:latin typeface="Calibri" panose="020F0502020204030204" charset="0"/>
                          <a:ea typeface="Calibri" panose="020F0502020204030204" pitchFamily="34" charset="-122"/>
                          <a:cs typeface="Calibri" panose="020F0502020204030204" pitchFamily="34" charset="-120"/>
                        </a:rPr>
                        <a:t>Requires Attention</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C97A17"/>
                    </a:solidFill>
                  </a:tcPr>
                </a:tc>
              </a:tr>
              <a:tr h="411480">
                <a:tc>
                  <a:txBody>
                    <a:bodyPr/>
                    <a:lstStyle/>
                    <a:p>
                      <a:pPr marL="0" indent="0" algn="ctr">
                        <a:buNone/>
                      </a:pPr>
                      <a:r>
                        <a:rPr lang="en-US" sz="1150" b="1" dirty="0">
                          <a:solidFill>
                            <a:srgbClr val="2B3A42"/>
                          </a:solidFill>
                          <a:latin typeface="Calibri" panose="020F0502020204030204" charset="0"/>
                          <a:ea typeface="Calibri" panose="020F0502020204030204" pitchFamily="34" charset="-122"/>
                          <a:cs typeface="Calibri" panose="020F0502020204030204" pitchFamily="34" charset="-120"/>
                        </a:rPr>
                        <a:t>Nitrate (mg/L)</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14</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B3A42"/>
                          </a:solidFill>
                          <a:latin typeface="Calibri" panose="020F0502020204030204" charset="0"/>
                          <a:ea typeface="Calibri" panose="020F0502020204030204" pitchFamily="34" charset="-122"/>
                          <a:cs typeface="Calibri" panose="020F0502020204030204" pitchFamily="34" charset="-120"/>
                        </a:rPr>
                        <a:t>≤ 45</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FFFFF"/>
                          </a:solidFill>
                          <a:latin typeface="Calibri" panose="020F0502020204030204" charset="0"/>
                          <a:ea typeface="Calibri" panose="020F0502020204030204" pitchFamily="34" charset="-122"/>
                          <a:cs typeface="Calibri" panose="020F0502020204030204" pitchFamily="34" charset="-120"/>
                        </a:rPr>
                        <a:t>Within Criterion</a:t>
                      </a:r>
                      <a:endParaRPr lang="en-US" sz="1150" dirty="0">
                        <a:latin typeface="Calibri" panose="020F0502020204030204" charset="0"/>
                        <a:ea typeface="Calibri" panose="020F0502020204030204" charset="0"/>
                        <a:cs typeface="Calibri" panose="020F0502020204030204" charset="0"/>
                      </a:endParaRPr>
                    </a:p>
                  </a:txBody>
                  <a:tcPr anchor="ctr">
                    <a:lnL w="6350" cap="flat" cmpd="sng" algn="ctr">
                      <a:solidFill>
                        <a:srgbClr val="D5E4E8"/>
                      </a:solidFill>
                      <a:prstDash val="solid"/>
                      <a:round/>
                      <a:headEnd type="none" w="med" len="med"/>
                      <a:tailEnd type="none" w="med" len="med"/>
                    </a:lnL>
                    <a:lnR w="6350" cap="flat" cmpd="sng" algn="ctr">
                      <a:solidFill>
                        <a:srgbClr val="D5E4E8"/>
                      </a:solidFill>
                      <a:prstDash val="solid"/>
                      <a:round/>
                      <a:headEnd type="none" w="med" len="med"/>
                      <a:tailEnd type="none" w="med" len="med"/>
                    </a:lnR>
                    <a:lnT w="6350" cap="flat" cmpd="sng" algn="ctr">
                      <a:solidFill>
                        <a:srgbClr val="D5E4E8"/>
                      </a:solidFill>
                      <a:prstDash val="solid"/>
                      <a:round/>
                      <a:headEnd type="none" w="med" len="med"/>
                      <a:tailEnd type="none" w="med" len="med"/>
                    </a:lnT>
                    <a:lnB w="6350" cap="flat" cmpd="sng" algn="ctr">
                      <a:solidFill>
                        <a:srgbClr val="D5E4E8"/>
                      </a:solidFill>
                      <a:prstDash val="solid"/>
                      <a:round/>
                      <a:headEnd type="none" w="med" len="med"/>
                      <a:tailEnd type="none" w="med" len="med"/>
                    </a:lnB>
                    <a:solidFill>
                      <a:srgbClr val="02A97A"/>
                    </a:solidFill>
                  </a:tcPr>
                </a:tc>
              </a:tr>
            </a:tbl>
          </a:graphicData>
        </a:graphic>
      </p:graphicFrame>
      <p:sp>
        <p:nvSpPr>
          <p:cNvPr id="35" name="Text 6"/>
          <p:cNvSpPr/>
          <p:nvPr/>
        </p:nvSpPr>
        <p:spPr>
          <a:xfrm>
            <a:off x="548640" y="4216400"/>
            <a:ext cx="5486400" cy="320040"/>
          </a:xfrm>
          <a:prstGeom prst="rect">
            <a:avLst/>
          </a:prstGeom>
          <a:noFill/>
        </p:spPr>
        <p:txBody>
          <a:bodyPr wrap="square" rtlCol="0" anchor="ctr"/>
          <a:lstStyle/>
          <a:p>
            <a:pPr marL="0" indent="0">
              <a:buNone/>
            </a:pPr>
            <a:r>
              <a:rPr lang="en-US" sz="1350" b="1" dirty="0">
                <a:solidFill>
                  <a:srgbClr val="0B3D5C"/>
                </a:solidFill>
                <a:latin typeface="Cambria" panose="02040503050406030204" pitchFamily="34" charset="0"/>
                <a:ea typeface="Cambria" panose="02040503050406030204" pitchFamily="34" charset="-122"/>
                <a:cs typeface="Cambria" panose="02040503050406030204" pitchFamily="34" charset="-120"/>
              </a:rPr>
              <a:t>Assessment should carefully consider:</a:t>
            </a:r>
            <a:endParaRPr lang="en-US" sz="1350" dirty="0"/>
          </a:p>
        </p:txBody>
      </p:sp>
      <p:sp>
        <p:nvSpPr>
          <p:cNvPr id="36" name="Text 7"/>
          <p:cNvSpPr/>
          <p:nvPr/>
        </p:nvSpPr>
        <p:spPr>
          <a:xfrm>
            <a:off x="575945" y="4659630"/>
            <a:ext cx="11064240" cy="1280160"/>
          </a:xfrm>
          <a:prstGeom prst="rect">
            <a:avLst/>
          </a:prstGeom>
          <a:noFill/>
        </p:spPr>
        <p:txBody>
          <a:bodyPr wrap="square" rtlCol="0" anchor="t"/>
          <a:lstStyle/>
          <a:p>
            <a:pPr marL="342900" indent="-342900" algn="l">
              <a:spcAft>
                <a:spcPts val="6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Units of measurement</a:t>
            </a:r>
            <a:endParaRPr lang="en-US" dirty="0">
              <a:latin typeface="Times New Roman" panose="02020603050405020304" charset="0"/>
              <a:cs typeface="Times New Roman" panose="02020603050405020304" charset="0"/>
            </a:endParaRPr>
          </a:p>
          <a:p>
            <a:pPr marL="342900" indent="-342900" algn="l">
              <a:spcAft>
                <a:spcPts val="6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Sampling method used</a:t>
            </a:r>
            <a:endParaRPr lang="en-US" dirty="0">
              <a:latin typeface="Times New Roman" panose="02020603050405020304" charset="0"/>
              <a:cs typeface="Times New Roman" panose="02020603050405020304" charset="0"/>
            </a:endParaRPr>
          </a:p>
          <a:p>
            <a:pPr marL="342900" indent="-342900" algn="l">
              <a:spcAft>
                <a:spcPts val="6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Measurement uncertainty, where applicable</a:t>
            </a:r>
            <a:endParaRPr lang="en-US" dirty="0">
              <a:latin typeface="Times New Roman" panose="02020603050405020304" charset="0"/>
              <a:cs typeface="Times New Roman" panose="02020603050405020304" charset="0"/>
            </a:endParaRPr>
          </a:p>
          <a:p>
            <a:pPr marL="342900" indent="-342900" algn="l">
              <a:spcAft>
                <a:spcPts val="600"/>
              </a:spcAft>
              <a:buSzPct val="100000"/>
              <a:buChar char="•"/>
            </a:pPr>
            <a:r>
              <a:rPr lang="en-US" dirty="0">
                <a:solidFill>
                  <a:srgbClr val="2B3A42"/>
                </a:solidFill>
                <a:latin typeface="Times New Roman" panose="02020603050405020304" charset="0"/>
                <a:ea typeface="Calibri" panose="020F0502020204030204" pitchFamily="34" charset="-122"/>
                <a:cs typeface="Times New Roman" panose="02020603050405020304" charset="0"/>
              </a:rPr>
              <a:t>The exact standard/guideline used for comparison</a:t>
            </a:r>
            <a:endParaRPr lang="en-US" dirty="0">
              <a:latin typeface="Times New Roman" panose="02020603050405020304" charset="0"/>
              <a:cs typeface="Times New Roman" panose="02020603050405020304" charset="0"/>
            </a:endParaRPr>
          </a:p>
        </p:txBody>
      </p:sp>
      <p:sp>
        <p:nvSpPr>
          <p:cNvPr id="37" name="Text 8"/>
          <p:cNvSpPr/>
          <p:nvPr/>
        </p:nvSpPr>
        <p:spPr>
          <a:xfrm>
            <a:off x="457200" y="6510528"/>
            <a:ext cx="7315200" cy="274320"/>
          </a:xfrm>
          <a:prstGeom prst="rect">
            <a:avLst/>
          </a:prstGeom>
          <a:noFill/>
        </p:spPr>
        <p:txBody>
          <a:bodyPr wrap="square" rtlCol="0" anchor="ctr"/>
          <a:lstStyle/>
          <a:p>
            <a:pPr marL="0" indent="0" algn="l">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R Programming Capstone Project</a:t>
            </a:r>
            <a:endParaRPr lang="en-US" sz="900" dirty="0"/>
          </a:p>
        </p:txBody>
      </p:sp>
      <p:sp>
        <p:nvSpPr>
          <p:cNvPr id="38" name="Text 9"/>
          <p:cNvSpPr/>
          <p:nvPr/>
        </p:nvSpPr>
        <p:spPr>
          <a:xfrm>
            <a:off x="11274552" y="6510528"/>
            <a:ext cx="457200" cy="274320"/>
          </a:xfrm>
          <a:prstGeom prst="rect">
            <a:avLst/>
          </a:prstGeom>
          <a:noFill/>
        </p:spPr>
        <p:txBody>
          <a:bodyPr wrap="square" rtlCol="0" anchor="ctr"/>
          <a:lstStyle/>
          <a:p>
            <a:pPr marL="0" indent="0" algn="r">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16</a:t>
            </a:r>
            <a:endParaRPr lang="en-US" sz="900" dirty="0"/>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 name="Picture 32"/>
          <p:cNvPicPr/>
          <p:nvPr/>
        </p:nvPicPr>
        <p:blipFill>
          <a:blip r:embed="rId1"/>
          <a:stretch>
            <a:fillRect/>
          </a:stretch>
        </p:blipFill>
        <p:spPr>
          <a:xfrm>
            <a:off x="10403205" y="135255"/>
            <a:ext cx="1624330" cy="1356360"/>
          </a:xfrm>
          <a:prstGeom prst="rect">
            <a:avLst/>
          </a:prstGeom>
        </p:spPr>
      </p:pic>
      <p:pic>
        <p:nvPicPr>
          <p:cNvPr id="61" name="Picture 60"/>
          <p:cNvPicPr/>
          <p:nvPr/>
        </p:nvPicPr>
        <p:blipFill>
          <a:blip r:embed="rId2"/>
          <a:stretch>
            <a:fillRect/>
          </a:stretch>
        </p:blipFill>
        <p:spPr>
          <a:xfrm>
            <a:off x="158750" y="174625"/>
            <a:ext cx="1649095" cy="1151255"/>
          </a:xfrm>
          <a:prstGeom prst="rect">
            <a:avLst/>
          </a:prstGeom>
        </p:spPr>
      </p:pic>
      <p:sp>
        <p:nvSpPr>
          <p:cNvPr id="6" name="Text 1"/>
          <p:cNvSpPr/>
          <p:nvPr/>
        </p:nvSpPr>
        <p:spPr>
          <a:xfrm>
            <a:off x="2567432" y="324866"/>
            <a:ext cx="10378440" cy="685800"/>
          </a:xfrm>
          <a:prstGeom prst="rect">
            <a:avLst/>
          </a:prstGeom>
          <a:noFill/>
        </p:spPr>
        <p:txBody>
          <a:bodyPr wrap="square" rtlCol="0" anchor="ctr"/>
          <a:lstStyle/>
          <a:p>
            <a:pPr marL="0" indent="0" algn="l">
              <a:buNone/>
            </a:pPr>
            <a:r>
              <a:rPr lang="en-US" sz="2400" b="1" dirty="0">
                <a:solidFill>
                  <a:srgbClr val="0B3D5C"/>
                </a:solidFill>
                <a:latin typeface="Cambria" panose="02040503050406030204" pitchFamily="34" charset="0"/>
                <a:ea typeface="Cambria" panose="02040503050406030204" pitchFamily="34" charset="-122"/>
                <a:cs typeface="Cambria" panose="02040503050406030204" pitchFamily="34" charset="-120"/>
              </a:rPr>
              <a:t>Limitations, Future Scope and Conclusion</a:t>
            </a:r>
            <a:endParaRPr lang="en-US" sz="2400" dirty="0"/>
          </a:p>
        </p:txBody>
      </p:sp>
      <p:sp>
        <p:nvSpPr>
          <p:cNvPr id="7" name="Shape 2"/>
          <p:cNvSpPr/>
          <p:nvPr/>
        </p:nvSpPr>
        <p:spPr>
          <a:xfrm>
            <a:off x="274955" y="1805940"/>
            <a:ext cx="3611880" cy="3998595"/>
          </a:xfrm>
          <a:prstGeom prst="roundRect">
            <a:avLst>
              <a:gd name="adj" fmla="val 2817"/>
            </a:avLst>
          </a:prstGeom>
          <a:solidFill>
            <a:srgbClr val="EAF5F8"/>
          </a:solidFill>
        </p:spPr>
      </p:sp>
      <p:sp>
        <p:nvSpPr>
          <p:cNvPr id="8" name="Text 3"/>
          <p:cNvSpPr/>
          <p:nvPr/>
        </p:nvSpPr>
        <p:spPr>
          <a:xfrm>
            <a:off x="411480" y="1910207"/>
            <a:ext cx="3246120" cy="320040"/>
          </a:xfrm>
          <a:prstGeom prst="rect">
            <a:avLst/>
          </a:prstGeom>
          <a:noFill/>
        </p:spPr>
        <p:txBody>
          <a:bodyPr wrap="square" rtlCol="0" anchor="ctr"/>
          <a:lstStyle/>
          <a:p>
            <a:pPr marL="0" indent="0">
              <a:buNone/>
            </a:pPr>
            <a:r>
              <a:rPr lang="en-US" sz="1250" b="1" dirty="0">
                <a:solidFill>
                  <a:srgbClr val="B23A2E"/>
                </a:solidFill>
                <a:latin typeface="Calibri" panose="020F0502020204030204" charset="0"/>
                <a:ea typeface="Calibri" panose="020F0502020204030204" pitchFamily="34" charset="-122"/>
                <a:cs typeface="Calibri" panose="020F0502020204030204" pitchFamily="34" charset="-120"/>
              </a:rPr>
              <a:t>LIMITATIONS</a:t>
            </a:r>
            <a:endParaRPr lang="en-US" sz="1250" dirty="0"/>
          </a:p>
        </p:txBody>
      </p:sp>
      <p:sp>
        <p:nvSpPr>
          <p:cNvPr id="9" name="Text 4"/>
          <p:cNvSpPr/>
          <p:nvPr/>
        </p:nvSpPr>
        <p:spPr>
          <a:xfrm>
            <a:off x="411480" y="2304415"/>
            <a:ext cx="3200400" cy="2606040"/>
          </a:xfrm>
          <a:prstGeom prst="rect">
            <a:avLst/>
          </a:prstGeom>
          <a:noFill/>
        </p:spPr>
        <p:txBody>
          <a:bodyPr wrap="square" rtlCol="0" anchor="t"/>
          <a:lstStyle/>
          <a:p>
            <a:pPr marL="342900" indent="-342900" algn="l">
              <a:spcAft>
                <a:spcPts val="70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Sample size may be limited.</a:t>
            </a:r>
            <a:endParaRPr lang="en-US" sz="1600" dirty="0">
              <a:latin typeface="Times New Roman" panose="02020603050405020304" charset="0"/>
              <a:cs typeface="Times New Roman" panose="02020603050405020304" charset="0"/>
            </a:endParaRPr>
          </a:p>
          <a:p>
            <a:pPr marL="342900" indent="-342900" algn="l">
              <a:spcAft>
                <a:spcPts val="70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Water quality may vary seasonally.</a:t>
            </a:r>
            <a:endParaRPr lang="en-US" sz="1600" dirty="0">
              <a:latin typeface="Times New Roman" panose="02020603050405020304" charset="0"/>
              <a:cs typeface="Times New Roman" panose="02020603050405020304" charset="0"/>
            </a:endParaRPr>
          </a:p>
          <a:p>
            <a:pPr marL="342900" indent="-342900" algn="l">
              <a:spcAft>
                <a:spcPts val="70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Measurement errors may occur.</a:t>
            </a:r>
            <a:endParaRPr lang="en-US" sz="1600" dirty="0">
              <a:latin typeface="Times New Roman" panose="02020603050405020304" charset="0"/>
              <a:cs typeface="Times New Roman" panose="02020603050405020304" charset="0"/>
            </a:endParaRPr>
          </a:p>
          <a:p>
            <a:pPr marL="342900" indent="-342900" algn="l">
              <a:spcAft>
                <a:spcPts val="70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Selected parameters may not represent every possible contaminant.</a:t>
            </a:r>
            <a:endParaRPr lang="en-US" sz="1600" dirty="0">
              <a:latin typeface="Times New Roman" panose="02020603050405020304" charset="0"/>
              <a:cs typeface="Times New Roman" panose="02020603050405020304" charset="0"/>
            </a:endParaRPr>
          </a:p>
          <a:p>
            <a:pPr marL="342900" indent="-342900" algn="l">
              <a:spcAft>
                <a:spcPts val="70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Statistical analysis does not replace certified laboratory testing.</a:t>
            </a:r>
            <a:endParaRPr lang="en-US" sz="1600" dirty="0">
              <a:latin typeface="Times New Roman" panose="02020603050405020304" charset="0"/>
              <a:cs typeface="Times New Roman" panose="02020603050405020304" charset="0"/>
            </a:endParaRPr>
          </a:p>
        </p:txBody>
      </p:sp>
      <p:sp>
        <p:nvSpPr>
          <p:cNvPr id="10" name="Shape 5"/>
          <p:cNvSpPr/>
          <p:nvPr/>
        </p:nvSpPr>
        <p:spPr>
          <a:xfrm>
            <a:off x="4151630" y="1751330"/>
            <a:ext cx="3611880" cy="4058920"/>
          </a:xfrm>
          <a:prstGeom prst="roundRect">
            <a:avLst>
              <a:gd name="adj" fmla="val 2817"/>
            </a:avLst>
          </a:prstGeom>
          <a:solidFill>
            <a:srgbClr val="EAF5F8"/>
          </a:solidFill>
        </p:spPr>
      </p:sp>
      <p:sp>
        <p:nvSpPr>
          <p:cNvPr id="11" name="Text 6"/>
          <p:cNvSpPr/>
          <p:nvPr/>
        </p:nvSpPr>
        <p:spPr>
          <a:xfrm>
            <a:off x="4219956" y="1901952"/>
            <a:ext cx="3246120" cy="320040"/>
          </a:xfrm>
          <a:prstGeom prst="rect">
            <a:avLst/>
          </a:prstGeom>
          <a:noFill/>
        </p:spPr>
        <p:txBody>
          <a:bodyPr wrap="square" rtlCol="0" anchor="ctr"/>
          <a:lstStyle/>
          <a:p>
            <a:pPr marL="0" indent="0">
              <a:buNone/>
            </a:pPr>
            <a:r>
              <a:rPr lang="en-US" sz="1250" b="1" dirty="0">
                <a:solidFill>
                  <a:srgbClr val="1C7293"/>
                </a:solidFill>
                <a:latin typeface="Calibri" panose="020F0502020204030204" charset="0"/>
                <a:ea typeface="Calibri" panose="020F0502020204030204" pitchFamily="34" charset="-122"/>
                <a:cs typeface="Calibri" panose="020F0502020204030204" pitchFamily="34" charset="-120"/>
              </a:rPr>
              <a:t>FUTURE SCOPE</a:t>
            </a:r>
            <a:endParaRPr lang="en-US" sz="1250" dirty="0"/>
          </a:p>
        </p:txBody>
      </p:sp>
      <p:sp>
        <p:nvSpPr>
          <p:cNvPr id="12" name="Text 7"/>
          <p:cNvSpPr/>
          <p:nvPr/>
        </p:nvSpPr>
        <p:spPr>
          <a:xfrm>
            <a:off x="4333621" y="2304415"/>
            <a:ext cx="3200400" cy="2606040"/>
          </a:xfrm>
          <a:prstGeom prst="rect">
            <a:avLst/>
          </a:prstGeom>
          <a:noFill/>
        </p:spPr>
        <p:txBody>
          <a:bodyPr wrap="square" rtlCol="0" anchor="t"/>
          <a:lstStyle/>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Larger household dataset</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Seasonal analysis</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More microbiological parameters</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Interactive R Shiny dashboard</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GIS-based spatial analysis</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Automated reporting</a:t>
            </a:r>
            <a:endParaRPr lang="en-US" sz="1600" dirty="0">
              <a:latin typeface="Times New Roman" panose="02020603050405020304" charset="0"/>
              <a:cs typeface="Times New Roman" panose="02020603050405020304" charset="0"/>
            </a:endParaRPr>
          </a:p>
          <a:p>
            <a:pPr marL="342900" indent="-342900" algn="l">
              <a:spcAft>
                <a:spcPts val="550"/>
              </a:spcAft>
              <a:buSzPct val="100000"/>
              <a:buChar char="•"/>
            </a:pPr>
            <a:r>
              <a:rPr lang="en-US" sz="1600" dirty="0">
                <a:solidFill>
                  <a:srgbClr val="2B3A42"/>
                </a:solidFill>
                <a:latin typeface="Times New Roman" panose="02020603050405020304" charset="0"/>
                <a:ea typeface="Calibri" panose="020F0502020204030204" pitchFamily="34" charset="-122"/>
                <a:cs typeface="Times New Roman" panose="02020603050405020304" charset="0"/>
              </a:rPr>
              <a:t>Machine-learning based prediction as an advanced extension</a:t>
            </a:r>
            <a:endParaRPr lang="en-US" sz="1600" dirty="0">
              <a:latin typeface="Times New Roman" panose="02020603050405020304" charset="0"/>
              <a:cs typeface="Times New Roman" panose="02020603050405020304" charset="0"/>
            </a:endParaRPr>
          </a:p>
        </p:txBody>
      </p:sp>
      <p:sp>
        <p:nvSpPr>
          <p:cNvPr id="13" name="Shape 8"/>
          <p:cNvSpPr/>
          <p:nvPr/>
        </p:nvSpPr>
        <p:spPr>
          <a:xfrm>
            <a:off x="7981315" y="1751330"/>
            <a:ext cx="3611880" cy="3948430"/>
          </a:xfrm>
          <a:prstGeom prst="roundRect">
            <a:avLst>
              <a:gd name="adj" fmla="val 2817"/>
            </a:avLst>
          </a:prstGeom>
          <a:solidFill>
            <a:srgbClr val="0B3D5C"/>
          </a:solidFill>
        </p:spPr>
      </p:sp>
      <p:sp>
        <p:nvSpPr>
          <p:cNvPr id="14" name="Text 9"/>
          <p:cNvSpPr/>
          <p:nvPr/>
        </p:nvSpPr>
        <p:spPr>
          <a:xfrm>
            <a:off x="8165592" y="1901952"/>
            <a:ext cx="3246120" cy="320040"/>
          </a:xfrm>
          <a:prstGeom prst="rect">
            <a:avLst/>
          </a:prstGeom>
          <a:noFill/>
        </p:spPr>
        <p:txBody>
          <a:bodyPr wrap="square" rtlCol="0" anchor="ctr"/>
          <a:lstStyle/>
          <a:p>
            <a:pPr marL="0" indent="0">
              <a:buNone/>
            </a:pPr>
            <a:r>
              <a:rPr lang="en-US" sz="1250" b="1" dirty="0">
                <a:solidFill>
                  <a:srgbClr val="5FA8C4"/>
                </a:solidFill>
                <a:latin typeface="Calibri" panose="020F0502020204030204" charset="0"/>
                <a:ea typeface="Calibri" panose="020F0502020204030204" pitchFamily="34" charset="-122"/>
                <a:cs typeface="Calibri" panose="020F0502020204030204" pitchFamily="34" charset="-120"/>
              </a:rPr>
              <a:t>CONCLUSION</a:t>
            </a:r>
            <a:endParaRPr lang="en-US" sz="1250" dirty="0"/>
          </a:p>
        </p:txBody>
      </p:sp>
      <p:sp>
        <p:nvSpPr>
          <p:cNvPr id="15" name="Text 10"/>
          <p:cNvSpPr/>
          <p:nvPr/>
        </p:nvSpPr>
        <p:spPr>
          <a:xfrm>
            <a:off x="8256397" y="2395855"/>
            <a:ext cx="3154680" cy="2423160"/>
          </a:xfrm>
          <a:prstGeom prst="rect">
            <a:avLst/>
          </a:prstGeom>
          <a:noFill/>
        </p:spPr>
        <p:txBody>
          <a:bodyPr wrap="square" rtlCol="0" anchor="t"/>
          <a:lstStyle/>
          <a:p>
            <a:pPr marL="0" indent="0">
              <a:lnSpc>
                <a:spcPct val="130000"/>
              </a:lnSpc>
              <a:buNone/>
            </a:pPr>
            <a:r>
              <a:rPr lang="en-US" sz="1600" i="1" dirty="0">
                <a:solidFill>
                  <a:srgbClr val="FFFFFF"/>
                </a:solidFill>
                <a:latin typeface="Calibri" panose="020F0502020204030204" charset="0"/>
                <a:ea typeface="Calibri" panose="020F0502020204030204" pitchFamily="34" charset="-122"/>
                <a:cs typeface="Calibri" panose="020F0502020204030204" pitchFamily="34" charset="-120"/>
              </a:rPr>
              <a:t>R programming provides a reproducible and efficient framework for collecting, preprocessing, statistically analyzing, visualizing, and assessing household drinking-water quality data.</a:t>
            </a:r>
            <a:endParaRPr lang="en-US" sz="1600" dirty="0"/>
          </a:p>
        </p:txBody>
      </p:sp>
      <p:sp>
        <p:nvSpPr>
          <p:cNvPr id="16" name="Text 11"/>
          <p:cNvSpPr/>
          <p:nvPr/>
        </p:nvSpPr>
        <p:spPr>
          <a:xfrm>
            <a:off x="457200" y="6510528"/>
            <a:ext cx="7315200" cy="274320"/>
          </a:xfrm>
          <a:prstGeom prst="rect">
            <a:avLst/>
          </a:prstGeom>
          <a:noFill/>
        </p:spPr>
        <p:txBody>
          <a:bodyPr wrap="square" rtlCol="0" anchor="ctr"/>
          <a:lstStyle/>
          <a:p>
            <a:pPr marL="0" indent="0" algn="l">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R Programming Capstone Project</a:t>
            </a:r>
            <a:endParaRPr lang="en-US" sz="900" dirty="0"/>
          </a:p>
        </p:txBody>
      </p:sp>
      <p:sp>
        <p:nvSpPr>
          <p:cNvPr id="17" name="Text 12"/>
          <p:cNvSpPr/>
          <p:nvPr/>
        </p:nvSpPr>
        <p:spPr>
          <a:xfrm>
            <a:off x="11274552" y="6510528"/>
            <a:ext cx="457200" cy="274320"/>
          </a:xfrm>
          <a:prstGeom prst="rect">
            <a:avLst/>
          </a:prstGeom>
          <a:noFill/>
        </p:spPr>
        <p:txBody>
          <a:bodyPr wrap="square" rtlCol="0" anchor="ctr"/>
          <a:lstStyle/>
          <a:p>
            <a:pPr marL="0" indent="0" algn="r">
              <a:buNone/>
            </a:pPr>
            <a:r>
              <a:rPr lang="en-US" sz="900" dirty="0">
                <a:solidFill>
                  <a:srgbClr val="6B7E86"/>
                </a:solidFill>
                <a:latin typeface="Calibri" panose="020F0502020204030204" charset="0"/>
                <a:ea typeface="Calibri" panose="020F0502020204030204" pitchFamily="34" charset="-122"/>
                <a:cs typeface="Calibri" panose="020F0502020204030204" pitchFamily="34" charset="-120"/>
              </a:rPr>
              <a:t>22</a:t>
            </a:r>
            <a:endParaRPr lang="en-US" sz="900" dirty="0"/>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6056</Words>
  <Application>WPS Presentation</Application>
  <PresentationFormat>Widescreen</PresentationFormat>
  <Paragraphs>393</Paragraphs>
  <Slides>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Wingdings</vt:lpstr>
      <vt:lpstr>Times New Roman</vt:lpstr>
      <vt:lpstr>Cambria</vt:lpstr>
      <vt:lpstr>Calibri</vt:lpstr>
      <vt:lpstr>Calibri</vt:lpstr>
      <vt:lpstr>Calibri</vt:lpstr>
      <vt:lpstr>Times New Roman</vt:lpstr>
      <vt:lpstr>Cambria</vt:lpstr>
      <vt:lpstr>Cambria</vt:lpstr>
      <vt:lpstr>Microsoft YaHei</vt:lpstr>
      <vt:lpstr>Arial Unicode MS</vt:lpstr>
      <vt:lpstr>Arial</vt:lpstr>
      <vt:lpstr>WPS</vt:lpstr>
      <vt:lpstr>SDG-Based Smart Tourism &amp; Railway Reservation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SDG-Based Smart Tourism &amp; Railway Reservation System</dc:title>
  <dc:creator>Sabi</dc:creator>
  <cp:lastModifiedBy>Sabi santhoshni Mary</cp:lastModifiedBy>
  <cp:revision>2</cp:revision>
  <dcterms:created xsi:type="dcterms:W3CDTF">2026-08-01T04:59:00Z</dcterms:created>
  <dcterms:modified xsi:type="dcterms:W3CDTF">2026-08-04T03:25:10Z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E5DBF4171EC44CCCBC80F70A4414C67F_13</vt:lpwstr>
  </property>
</Properties>
</file>